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1.xml" ContentType="application/vnd.openxmlformats-officedocument.themeOverride+xml"/>
  <Override PartName="/ppt/notesSlides/notesSlide8.xml" ContentType="application/vnd.openxmlformats-officedocument.presentationml.notesSlide+xml"/>
  <Override PartName="/ppt/theme/themeOverride2.xml" ContentType="application/vnd.openxmlformats-officedocument.themeOverr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4"/>
  </p:notesMasterIdLst>
  <p:sldIdLst>
    <p:sldId id="286" r:id="rId2"/>
    <p:sldId id="275" r:id="rId3"/>
    <p:sldId id="294" r:id="rId4"/>
    <p:sldId id="277" r:id="rId5"/>
    <p:sldId id="278" r:id="rId6"/>
    <p:sldId id="279" r:id="rId7"/>
    <p:sldId id="292" r:id="rId8"/>
    <p:sldId id="293" r:id="rId9"/>
    <p:sldId id="287" r:id="rId10"/>
    <p:sldId id="259" r:id="rId11"/>
    <p:sldId id="288" r:id="rId12"/>
    <p:sldId id="260" r:id="rId13"/>
    <p:sldId id="289" r:id="rId14"/>
    <p:sldId id="261" r:id="rId15"/>
    <p:sldId id="290" r:id="rId16"/>
    <p:sldId id="262" r:id="rId17"/>
    <p:sldId id="291" r:id="rId18"/>
    <p:sldId id="284" r:id="rId19"/>
    <p:sldId id="295" r:id="rId20"/>
    <p:sldId id="263" r:id="rId21"/>
    <p:sldId id="272" r:id="rId22"/>
    <p:sldId id="27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6102" autoAdjust="0"/>
    <p:restoredTop sz="86410" autoAdjust="0"/>
  </p:normalViewPr>
  <p:slideViewPr>
    <p:cSldViewPr snapToGrid="0" snapToObjects="1">
      <p:cViewPr varScale="1">
        <p:scale>
          <a:sx n="70" d="100"/>
          <a:sy n="70" d="100"/>
        </p:scale>
        <p:origin x="125" y="58"/>
      </p:cViewPr>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Lst>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_rels/viewProps.xml.rels><?xml version="1.0" encoding="UTF-8" standalone="yes"?>
<Relationships xmlns="http://schemas.openxmlformats.org/package/2006/relationships"><Relationship Id="rId8" Type="http://schemas.openxmlformats.org/officeDocument/2006/relationships/slide" Target="slides/slide8.xml"/><Relationship Id="rId13" Type="http://schemas.openxmlformats.org/officeDocument/2006/relationships/slide" Target="slides/slide13.xml"/><Relationship Id="rId18" Type="http://schemas.openxmlformats.org/officeDocument/2006/relationships/slide" Target="slides/slide19.xml"/><Relationship Id="rId3" Type="http://schemas.openxmlformats.org/officeDocument/2006/relationships/slide" Target="slides/slide3.xml"/><Relationship Id="rId21" Type="http://schemas.openxmlformats.org/officeDocument/2006/relationships/slide" Target="slides/slide22.xml"/><Relationship Id="rId7" Type="http://schemas.openxmlformats.org/officeDocument/2006/relationships/slide" Target="slides/slide7.xml"/><Relationship Id="rId12" Type="http://schemas.openxmlformats.org/officeDocument/2006/relationships/slide" Target="slides/slide12.xml"/><Relationship Id="rId17" Type="http://schemas.openxmlformats.org/officeDocument/2006/relationships/slide" Target="slides/slide18.xml"/><Relationship Id="rId2" Type="http://schemas.openxmlformats.org/officeDocument/2006/relationships/slide" Target="slides/slide2.xml"/><Relationship Id="rId16" Type="http://schemas.openxmlformats.org/officeDocument/2006/relationships/slide" Target="slides/slide17.xml"/><Relationship Id="rId20" Type="http://schemas.openxmlformats.org/officeDocument/2006/relationships/slide" Target="slides/slide21.xml"/><Relationship Id="rId1" Type="http://schemas.openxmlformats.org/officeDocument/2006/relationships/slide" Target="slides/slide1.xml"/><Relationship Id="rId6" Type="http://schemas.openxmlformats.org/officeDocument/2006/relationships/slide" Target="slides/slide6.xml"/><Relationship Id="rId11" Type="http://schemas.openxmlformats.org/officeDocument/2006/relationships/slide" Target="slides/slide11.xml"/><Relationship Id="rId5" Type="http://schemas.openxmlformats.org/officeDocument/2006/relationships/slide" Target="slides/slide5.xml"/><Relationship Id="rId15" Type="http://schemas.openxmlformats.org/officeDocument/2006/relationships/slide" Target="slides/slide15.xml"/><Relationship Id="rId10" Type="http://schemas.openxmlformats.org/officeDocument/2006/relationships/slide" Target="slides/slide10.xml"/><Relationship Id="rId19" Type="http://schemas.openxmlformats.org/officeDocument/2006/relationships/slide" Target="slides/slide20.xml"/><Relationship Id="rId4" Type="http://schemas.openxmlformats.org/officeDocument/2006/relationships/slide" Target="slides/slide4.xml"/><Relationship Id="rId9" Type="http://schemas.openxmlformats.org/officeDocument/2006/relationships/slide" Target="slides/slide9.xml"/><Relationship Id="rId14"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C3C4F9-CA7E-4FB2-9018-C4EFF06E3B0D}" type="datetimeFigureOut">
              <a:rPr lang="en-US" smtClean="0"/>
              <a:t>12/13/2025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9FFBF3-BF2E-409F-AF89-EB98790D0617}" type="slidenum">
              <a:rPr lang="en-US" smtClean="0"/>
              <a:t>‹#›</a:t>
            </a:fld>
            <a:endParaRPr lang="en-US"/>
          </a:p>
        </p:txBody>
      </p:sp>
    </p:spTree>
    <p:extLst>
      <p:ext uri="{BB962C8B-B14F-4D97-AF65-F5344CB8AC3E}">
        <p14:creationId xmlns:p14="http://schemas.microsoft.com/office/powerpoint/2010/main" val="162418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9FFBF3-BF2E-409F-AF89-EB98790D0617}" type="slidenum">
              <a:rPr lang="en-US" smtClean="0"/>
              <a:t>1</a:t>
            </a:fld>
            <a:endParaRPr lang="en-US"/>
          </a:p>
        </p:txBody>
      </p:sp>
    </p:spTree>
    <p:extLst>
      <p:ext uri="{BB962C8B-B14F-4D97-AF65-F5344CB8AC3E}">
        <p14:creationId xmlns:p14="http://schemas.microsoft.com/office/powerpoint/2010/main" val="3454042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9FFBF3-BF2E-409F-AF89-EB98790D0617}" type="slidenum">
              <a:rPr lang="en-US" smtClean="0"/>
              <a:t>4</a:t>
            </a:fld>
            <a:endParaRPr lang="en-US"/>
          </a:p>
        </p:txBody>
      </p:sp>
    </p:spTree>
    <p:extLst>
      <p:ext uri="{BB962C8B-B14F-4D97-AF65-F5344CB8AC3E}">
        <p14:creationId xmlns:p14="http://schemas.microsoft.com/office/powerpoint/2010/main" val="10464977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9FFBF3-BF2E-409F-AF89-EB98790D0617}" type="slidenum">
              <a:rPr lang="en-US" smtClean="0"/>
              <a:t>7</a:t>
            </a:fld>
            <a:endParaRPr lang="en-US"/>
          </a:p>
        </p:txBody>
      </p:sp>
    </p:spTree>
    <p:extLst>
      <p:ext uri="{BB962C8B-B14F-4D97-AF65-F5344CB8AC3E}">
        <p14:creationId xmlns:p14="http://schemas.microsoft.com/office/powerpoint/2010/main" val="16720281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Average Monthly Charges vs Tenure (by Gender)</a:t>
            </a:r>
            <a:endParaRPr dirty="0"/>
          </a:p>
          <a:p>
            <a:r>
              <a:rPr b="0" dirty="0"/>
              <a:t>No alt text provided</a:t>
            </a:r>
            <a:endParaRPr dirty="0"/>
          </a:p>
          <a:p>
            <a:endParaRPr dirty="0"/>
          </a:p>
          <a:p>
            <a:r>
              <a:rPr b="1" dirty="0"/>
              <a:t>Avg Monthly Charges by Tenure Group</a:t>
            </a:r>
            <a:endParaRPr dirty="0"/>
          </a:p>
          <a:p>
            <a:r>
              <a:rPr b="0" dirty="0"/>
              <a:t>No alt text provided</a:t>
            </a:r>
            <a:endParaRPr dirty="0"/>
          </a:p>
          <a:p>
            <a:endParaRPr dirty="0"/>
          </a:p>
          <a:p>
            <a:r>
              <a:rPr b="1" dirty="0"/>
              <a:t>Total Customers</a:t>
            </a:r>
            <a:endParaRPr dirty="0"/>
          </a:p>
          <a:p>
            <a:r>
              <a:rPr b="0" dirty="0"/>
              <a:t>No alt text provided</a:t>
            </a:r>
            <a:endParaRPr dirty="0"/>
          </a:p>
          <a:p>
            <a:endParaRPr dirty="0"/>
          </a:p>
          <a:p>
            <a:r>
              <a:rPr b="1" dirty="0"/>
              <a:t>Churned Customers</a:t>
            </a:r>
            <a:endParaRPr dirty="0"/>
          </a:p>
          <a:p>
            <a:r>
              <a:rPr b="0" dirty="0"/>
              <a:t>No alt text provided</a:t>
            </a:r>
            <a:endParaRPr dirty="0"/>
          </a:p>
          <a:p>
            <a:endParaRPr dirty="0"/>
          </a:p>
          <a:p>
            <a:r>
              <a:rPr b="1" dirty="0"/>
              <a:t>Churned Rate</a:t>
            </a:r>
            <a:endParaRPr dirty="0"/>
          </a:p>
          <a:p>
            <a:r>
              <a:rPr b="0" dirty="0"/>
              <a:t>No alt text provided</a:t>
            </a:r>
            <a:endParaRPr dirty="0"/>
          </a:p>
          <a:p>
            <a:endParaRPr dirty="0"/>
          </a:p>
          <a:p>
            <a:r>
              <a:rPr b="1" dirty="0"/>
              <a:t>Average Monthly Charges</a:t>
            </a:r>
            <a:endParaRPr dirty="0"/>
          </a:p>
          <a:p>
            <a:r>
              <a:rPr b="0" dirty="0"/>
              <a:t>No alt text provided</a:t>
            </a:r>
            <a:endParaRPr dirty="0"/>
          </a:p>
          <a:p>
            <a:endParaRPr dirty="0"/>
          </a:p>
          <a:p>
            <a:r>
              <a:rPr b="1" dirty="0"/>
              <a:t>Average Tenure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Senior Citizen — Churn vs Not</a:t>
            </a:r>
            <a:endParaRPr dirty="0"/>
          </a:p>
          <a:p>
            <a:r>
              <a:rPr b="0" dirty="0"/>
              <a:t>No alt text provided</a:t>
            </a:r>
            <a:endParaRPr dirty="0"/>
          </a:p>
          <a:p>
            <a:endParaRPr dirty="0"/>
          </a:p>
          <a:p>
            <a:r>
              <a:rPr b="1" dirty="0"/>
              <a:t>Customer Gender Distribution</a:t>
            </a:r>
            <a:endParaRPr dirty="0"/>
          </a:p>
          <a:p>
            <a:r>
              <a:rPr b="0" dirty="0"/>
              <a:t>No alt text provided</a:t>
            </a:r>
            <a:endParaRPr dirty="0"/>
          </a:p>
          <a:p>
            <a:endParaRPr dirty="0"/>
          </a:p>
          <a:p>
            <a:r>
              <a:rPr b="1" dirty="0"/>
              <a:t>Gender</a:t>
            </a:r>
            <a:endParaRPr dirty="0"/>
          </a:p>
          <a:p>
            <a:r>
              <a:rPr b="0" dirty="0"/>
              <a:t>No alt text provided</a:t>
            </a:r>
            <a:endParaRPr dirty="0"/>
          </a:p>
          <a:p>
            <a:endParaRPr dirty="0"/>
          </a:p>
          <a:p>
            <a:r>
              <a:rPr b="1" dirty="0"/>
              <a:t>Contract Type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Churn Rate by Tenure Group</a:t>
            </a:r>
            <a:endParaRPr dirty="0"/>
          </a:p>
          <a:p>
            <a:r>
              <a:rPr b="0" dirty="0"/>
              <a:t>No alt text provided</a:t>
            </a:r>
            <a:endParaRPr dirty="0"/>
          </a:p>
          <a:p>
            <a:endParaRPr dirty="0"/>
          </a:p>
          <a:p>
            <a:r>
              <a:rPr b="1" dirty="0"/>
              <a:t>Customers by Tenure Group</a:t>
            </a:r>
            <a:endParaRPr dirty="0"/>
          </a:p>
          <a:p>
            <a:r>
              <a:rPr b="0" dirty="0"/>
              <a:t>No alt text provided</a:t>
            </a:r>
            <a:endParaRPr dirty="0"/>
          </a:p>
          <a:p>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9FFBF3-BF2E-409F-AF89-EB98790D0617}" type="slidenum">
              <a:rPr lang="en-US" smtClean="0"/>
              <a:t>11</a:t>
            </a:fld>
            <a:endParaRPr lang="en-US"/>
          </a:p>
        </p:txBody>
      </p:sp>
    </p:spTree>
    <p:extLst>
      <p:ext uri="{BB962C8B-B14F-4D97-AF65-F5344CB8AC3E}">
        <p14:creationId xmlns:p14="http://schemas.microsoft.com/office/powerpoint/2010/main" val="23439026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Phone Service Usage</a:t>
            </a:r>
            <a:endParaRPr dirty="0"/>
          </a:p>
          <a:p>
            <a:r>
              <a:rPr b="0" dirty="0"/>
              <a:t>No alt text provided</a:t>
            </a:r>
            <a:endParaRPr dirty="0"/>
          </a:p>
          <a:p>
            <a:endParaRPr dirty="0"/>
          </a:p>
          <a:p>
            <a:r>
              <a:rPr b="1" dirty="0"/>
              <a:t>Internet Service &amp; Churn Rate</a:t>
            </a:r>
            <a:endParaRPr dirty="0"/>
          </a:p>
          <a:p>
            <a:r>
              <a:rPr b="0" dirty="0"/>
              <a:t>No alt text provided</a:t>
            </a:r>
            <a:endParaRPr dirty="0"/>
          </a:p>
          <a:p>
            <a:endParaRPr dirty="0"/>
          </a:p>
          <a:p>
            <a:r>
              <a:rPr b="1" dirty="0"/>
              <a:t>Add-on Services (Churned Customers)</a:t>
            </a:r>
            <a:endParaRPr dirty="0"/>
          </a:p>
          <a:p>
            <a:r>
              <a:rPr b="0" dirty="0"/>
              <a:t>No alt text provided</a:t>
            </a:r>
            <a:endParaRPr dirty="0"/>
          </a:p>
          <a:p>
            <a:endParaRPr dirty="0"/>
          </a:p>
          <a:p>
            <a:r>
              <a:rPr b="1" dirty="0"/>
              <a:t>Churn Rate by Number of Subscribed Services</a:t>
            </a:r>
            <a:endParaRPr dirty="0"/>
          </a:p>
          <a:p>
            <a:r>
              <a:rPr b="0" dirty="0"/>
              <a:t>No alt text provided</a:t>
            </a:r>
            <a:endParaRPr dirty="0"/>
          </a:p>
          <a:p>
            <a:endParaRPr dirty="0"/>
          </a:p>
          <a:p>
            <a:r>
              <a:rPr b="1" dirty="0"/>
              <a:t>Top Service Combinations &amp; Churn</a:t>
            </a:r>
            <a:endParaRPr dirty="0"/>
          </a:p>
          <a:p>
            <a:r>
              <a:rPr b="0" dirty="0"/>
              <a:t>No alt text provided</a:t>
            </a:r>
            <a:endParaRPr dirty="0"/>
          </a:p>
          <a:p>
            <a:endParaRPr dirty="0"/>
          </a:p>
          <a:p>
            <a:r>
              <a:rPr b="1" dirty="0"/>
              <a:t>Internet Service: Customers &amp; Churn Rate</a:t>
            </a:r>
            <a:endParaRPr dirty="0"/>
          </a:p>
          <a:p>
            <a:r>
              <a:rPr b="0" dirty="0"/>
              <a:t>No alt text provided</a:t>
            </a:r>
            <a:endParaRPr dirty="0"/>
          </a:p>
          <a:p>
            <a:endParaRPr dirty="0"/>
          </a:p>
          <a:p>
            <a:r>
              <a:rPr b="1" dirty="0"/>
              <a:t>Churned Rate</a:t>
            </a:r>
            <a:endParaRPr dirty="0"/>
          </a:p>
          <a:p>
            <a:r>
              <a:rPr b="0" dirty="0"/>
              <a:t>No alt text provided</a:t>
            </a:r>
            <a:endParaRPr dirty="0"/>
          </a:p>
          <a:p>
            <a:endParaRPr dirty="0"/>
          </a:p>
          <a:p>
            <a:r>
              <a:rPr b="1" dirty="0"/>
              <a:t>Churned Customers</a:t>
            </a:r>
            <a:endParaRPr dirty="0"/>
          </a:p>
          <a:p>
            <a:r>
              <a:rPr b="0" dirty="0"/>
              <a:t>No alt text provided</a:t>
            </a:r>
            <a:endParaRPr dirty="0"/>
          </a:p>
          <a:p>
            <a:endParaRPr dirty="0"/>
          </a:p>
          <a:p>
            <a:r>
              <a:rPr b="1" dirty="0"/>
              <a:t>Contract Type</a:t>
            </a:r>
            <a:endParaRPr dirty="0"/>
          </a:p>
          <a:p>
            <a:r>
              <a:rPr b="0" dirty="0"/>
              <a:t>No alt text provided</a:t>
            </a:r>
            <a:endParaRPr dirty="0"/>
          </a:p>
          <a:p>
            <a:endParaRPr dirty="0"/>
          </a:p>
          <a:p>
            <a:r>
              <a:rPr b="1" dirty="0"/>
              <a:t>Internet Service</a:t>
            </a:r>
            <a:endParaRPr dirty="0"/>
          </a:p>
          <a:p>
            <a:r>
              <a:rPr b="0" dirty="0"/>
              <a:t>No alt text provided</a:t>
            </a:r>
            <a:endParaRPr dirty="0"/>
          </a:p>
          <a:p>
            <a:endParaRPr dirty="0"/>
          </a:p>
          <a:p>
            <a:r>
              <a:rPr b="1" dirty="0"/>
              <a:t>Gender</a:t>
            </a:r>
            <a:endParaRPr dirty="0"/>
          </a:p>
          <a:p>
            <a:r>
              <a:rPr b="0" dirty="0"/>
              <a:t>No alt text provided</a:t>
            </a:r>
            <a:endParaRPr dirty="0"/>
          </a:p>
          <a:p>
            <a:endParaRPr dirty="0"/>
          </a:p>
          <a:p>
            <a:r>
              <a:rPr b="1" dirty="0"/>
              <a:t>Senior Citizen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textbox</a:t>
            </a:r>
            <a:endParaRPr dirty="0"/>
          </a:p>
          <a:p>
            <a:r>
              <a:rPr b="0" dirty="0"/>
              <a:t>No alt text provided</a:t>
            </a:r>
            <a:endParaRPr dirty="0"/>
          </a:p>
          <a:p>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9FFBF3-BF2E-409F-AF89-EB98790D0617}" type="slidenum">
              <a:rPr lang="en-US" smtClean="0"/>
              <a:t>13</a:t>
            </a:fld>
            <a:endParaRPr lang="en-US"/>
          </a:p>
        </p:txBody>
      </p:sp>
    </p:spTree>
    <p:extLst>
      <p:ext uri="{BB962C8B-B14F-4D97-AF65-F5344CB8AC3E}">
        <p14:creationId xmlns:p14="http://schemas.microsoft.com/office/powerpoint/2010/main" val="26174939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Churn Rate by Contract Type</a:t>
            </a:r>
            <a:endParaRPr dirty="0"/>
          </a:p>
          <a:p>
            <a:r>
              <a:rPr b="0" dirty="0"/>
              <a:t>No alt text provided</a:t>
            </a:r>
            <a:endParaRPr dirty="0"/>
          </a:p>
          <a:p>
            <a:endParaRPr dirty="0"/>
          </a:p>
          <a:p>
            <a:r>
              <a:rPr b="1" dirty="0"/>
              <a:t>Churn by Payment Method</a:t>
            </a:r>
            <a:endParaRPr dirty="0"/>
          </a:p>
          <a:p>
            <a:r>
              <a:rPr b="0" dirty="0"/>
              <a:t>No alt text provided</a:t>
            </a:r>
            <a:endParaRPr dirty="0"/>
          </a:p>
          <a:p>
            <a:endParaRPr dirty="0"/>
          </a:p>
          <a:p>
            <a:r>
              <a:rPr b="1" dirty="0"/>
              <a:t>Avg Total Charges by Contract Type</a:t>
            </a:r>
            <a:endParaRPr dirty="0"/>
          </a:p>
          <a:p>
            <a:r>
              <a:rPr b="0" dirty="0"/>
              <a:t>No alt text provided</a:t>
            </a:r>
            <a:endParaRPr dirty="0"/>
          </a:p>
          <a:p>
            <a:endParaRPr dirty="0"/>
          </a:p>
          <a:p>
            <a:r>
              <a:rPr b="1" dirty="0"/>
              <a:t>Avg Monthly Charges by Payment Method</a:t>
            </a:r>
            <a:endParaRPr dirty="0"/>
          </a:p>
          <a:p>
            <a:r>
              <a:rPr b="0" dirty="0"/>
              <a:t>No alt text provided</a:t>
            </a:r>
            <a:endParaRPr dirty="0"/>
          </a:p>
          <a:p>
            <a:endParaRPr dirty="0"/>
          </a:p>
          <a:p>
            <a:r>
              <a:rPr b="1" dirty="0"/>
              <a:t>Churn Rate: Paperless vs Non-Paperless</a:t>
            </a:r>
            <a:endParaRPr dirty="0"/>
          </a:p>
          <a:p>
            <a:r>
              <a:rPr b="0" dirty="0"/>
              <a:t>No alt text provided</a:t>
            </a:r>
            <a:endParaRPr dirty="0"/>
          </a:p>
          <a:p>
            <a:endParaRPr dirty="0"/>
          </a:p>
          <a:p>
            <a:r>
              <a:rPr b="1" dirty="0"/>
              <a:t>Tenure Distribution by Contract Type</a:t>
            </a:r>
            <a:endParaRPr dirty="0"/>
          </a:p>
          <a:p>
            <a:r>
              <a:rPr b="0" dirty="0"/>
              <a:t>No alt text provided</a:t>
            </a:r>
            <a:endParaRPr dirty="0"/>
          </a:p>
          <a:p>
            <a:endParaRPr dirty="0"/>
          </a:p>
          <a:p>
            <a:r>
              <a:rPr b="1" dirty="0"/>
              <a:t>Churn Rate</a:t>
            </a:r>
            <a:endParaRPr dirty="0"/>
          </a:p>
          <a:p>
            <a:r>
              <a:rPr b="0" dirty="0"/>
              <a:t>No alt text provided</a:t>
            </a:r>
            <a:endParaRPr dirty="0"/>
          </a:p>
          <a:p>
            <a:endParaRPr dirty="0"/>
          </a:p>
          <a:p>
            <a:r>
              <a:rPr b="1" dirty="0"/>
              <a:t>Average Monthly Charges</a:t>
            </a:r>
            <a:endParaRPr dirty="0"/>
          </a:p>
          <a:p>
            <a:r>
              <a:rPr b="0" dirty="0"/>
              <a:t>No alt text provided</a:t>
            </a:r>
            <a:endParaRPr dirty="0"/>
          </a:p>
          <a:p>
            <a:endParaRPr dirty="0"/>
          </a:p>
          <a:p>
            <a:r>
              <a:rPr b="1" dirty="0"/>
              <a:t>Average Total Charges</a:t>
            </a:r>
            <a:endParaRPr dirty="0"/>
          </a:p>
          <a:p>
            <a:r>
              <a:rPr b="0" dirty="0"/>
              <a:t>No alt text provided</a:t>
            </a:r>
            <a:endParaRPr dirty="0"/>
          </a:p>
          <a:p>
            <a:endParaRPr dirty="0"/>
          </a:p>
          <a:p>
            <a:r>
              <a:rPr b="1" dirty="0"/>
              <a:t>Total Churned Customers</a:t>
            </a:r>
            <a:endParaRPr dirty="0"/>
          </a:p>
          <a:p>
            <a:r>
              <a:rPr b="0" dirty="0"/>
              <a:t>No alt text provided</a:t>
            </a:r>
            <a:endParaRPr dirty="0"/>
          </a:p>
          <a:p>
            <a:endParaRPr dirty="0"/>
          </a:p>
          <a:p>
            <a:r>
              <a:rPr b="1" dirty="0"/>
              <a:t>Contract Type</a:t>
            </a:r>
            <a:endParaRPr dirty="0"/>
          </a:p>
          <a:p>
            <a:r>
              <a:rPr b="0" dirty="0"/>
              <a:t>No alt text provided</a:t>
            </a:r>
            <a:endParaRPr dirty="0"/>
          </a:p>
          <a:p>
            <a:endParaRPr dirty="0"/>
          </a:p>
          <a:p>
            <a:r>
              <a:rPr b="1" dirty="0"/>
              <a:t>Payment Method</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textbox</a:t>
            </a:r>
            <a:endParaRPr dirty="0"/>
          </a:p>
          <a:p>
            <a:r>
              <a:rPr b="0" dirty="0"/>
              <a:t>No alt text provided</a:t>
            </a:r>
            <a:endParaRPr dirty="0"/>
          </a:p>
          <a:p>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9FFBF3-BF2E-409F-AF89-EB98790D0617}" type="slidenum">
              <a:rPr lang="en-US" smtClean="0"/>
              <a:t>15</a:t>
            </a:fld>
            <a:endParaRPr lang="en-US"/>
          </a:p>
        </p:txBody>
      </p:sp>
    </p:spTree>
    <p:extLst>
      <p:ext uri="{BB962C8B-B14F-4D97-AF65-F5344CB8AC3E}">
        <p14:creationId xmlns:p14="http://schemas.microsoft.com/office/powerpoint/2010/main" val="5754492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Churn Rate by Contract Type</a:t>
            </a:r>
            <a:endParaRPr dirty="0"/>
          </a:p>
          <a:p>
            <a:r>
              <a:rPr b="0" dirty="0"/>
              <a:t>No alt text provided</a:t>
            </a:r>
            <a:endParaRPr dirty="0"/>
          </a:p>
          <a:p>
            <a:endParaRPr dirty="0"/>
          </a:p>
          <a:p>
            <a:r>
              <a:rPr b="1" dirty="0"/>
              <a:t>Churn Rate by Tenure Group</a:t>
            </a:r>
            <a:endParaRPr dirty="0"/>
          </a:p>
          <a:p>
            <a:r>
              <a:rPr b="0" dirty="0"/>
              <a:t>No alt text provided</a:t>
            </a:r>
            <a:endParaRPr dirty="0"/>
          </a:p>
          <a:p>
            <a:endParaRPr dirty="0"/>
          </a:p>
          <a:p>
            <a:r>
              <a:rPr b="1" dirty="0"/>
              <a:t>Overall Churn Rate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Churn Rate by Paperless Billing</a:t>
            </a:r>
            <a:endParaRPr dirty="0"/>
          </a:p>
          <a:p>
            <a:r>
              <a:rPr b="0" dirty="0"/>
              <a:t>No alt text provided</a:t>
            </a:r>
            <a:endParaRPr dirty="0"/>
          </a:p>
          <a:p>
            <a:endParaRPr dirty="0"/>
          </a:p>
          <a:p>
            <a:r>
              <a:rPr b="1" dirty="0"/>
              <a:t>Churn Rate by Payment Method</a:t>
            </a:r>
            <a:endParaRPr dirty="0"/>
          </a:p>
          <a:p>
            <a:r>
              <a:rPr b="0" dirty="0"/>
              <a:t>No alt text provided</a:t>
            </a:r>
            <a:endParaRPr dirty="0"/>
          </a:p>
          <a:p>
            <a:endParaRPr dirty="0"/>
          </a:p>
          <a:p>
            <a:r>
              <a:rPr b="1" dirty="0"/>
              <a:t>Churn Rate by Interet Service Type</a:t>
            </a:r>
            <a:endParaRPr dirty="0"/>
          </a:p>
          <a:p>
            <a:r>
              <a:rPr b="0" dirty="0"/>
              <a:t>No alt text provided</a:t>
            </a:r>
            <a:endParaRPr dirty="0"/>
          </a:p>
          <a:p>
            <a:endParaRPr dirty="0"/>
          </a:p>
          <a:p>
            <a:r>
              <a:rPr b="1" dirty="0"/>
              <a:t>Churn Concentration Across Multiple Segments</a:t>
            </a:r>
            <a:endParaRPr dirty="0"/>
          </a:p>
          <a:p>
            <a:r>
              <a:rPr b="0" dirty="0"/>
              <a:t>No alt text provided</a:t>
            </a:r>
            <a:endParaRPr dirty="0"/>
          </a:p>
          <a:p>
            <a:endParaRPr dirty="0"/>
          </a:p>
          <a:p>
            <a:r>
              <a:rPr b="1" dirty="0"/>
              <a:t>Revenue Contribution: Retained vs Churned Customers</a:t>
            </a:r>
            <a:endParaRPr dirty="0"/>
          </a:p>
          <a:p>
            <a:r>
              <a:rPr b="0" dirty="0"/>
              <a:t>No alt text provided</a:t>
            </a:r>
            <a:endParaRPr dirty="0"/>
          </a:p>
          <a:p>
            <a:endParaRPr dirty="0"/>
          </a:p>
          <a:p>
            <a:r>
              <a:rPr b="1" dirty="0"/>
              <a:t>textbox</a:t>
            </a:r>
            <a:endParaRPr dirty="0"/>
          </a:p>
          <a:p>
            <a:r>
              <a:rPr b="0" dirty="0"/>
              <a:t>No alt text provided</a:t>
            </a:r>
            <a:endParaRPr dirty="0"/>
          </a:p>
          <a:p>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9FFBF3-BF2E-409F-AF89-EB98790D0617}" type="slidenum">
              <a:rPr lang="en-US" smtClean="0"/>
              <a:t>17</a:t>
            </a:fld>
            <a:endParaRPr lang="en-US"/>
          </a:p>
        </p:txBody>
      </p:sp>
    </p:spTree>
    <p:extLst>
      <p:ext uri="{BB962C8B-B14F-4D97-AF65-F5344CB8AC3E}">
        <p14:creationId xmlns:p14="http://schemas.microsoft.com/office/powerpoint/2010/main" val="24922300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12/13/2025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12/13/2025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12/13/2025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12/13/2025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bhanu-sai-prakash-bandaru-22a1b8204/" TargetMode="External"/><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hyperlink" Target="https://github.com/bhanusaiprakashbandaru"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app.powerbi.com/groups/me/reports/08565a57-0329-40d1-acd5-182dca003660/?pbi_source=PowerPoint"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hyperlink" Target="https://app.powerbi.com/groups/me/reports/08565a57-0329-40d1-acd5-182dca003660/?pbi_source=PowerPoint" TargetMode="External"/><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app.powerbi.com/groups/me/reports/08565a57-0329-40d1-acd5-182dca003660/?pbi_source=PowerPoint" TargetMode="External"/><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hemeOverride" Target="../theme/themeOverride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8.xml"/><Relationship Id="rId1" Type="http://schemas.openxmlformats.org/officeDocument/2006/relationships/themeOverride" Target="../theme/themeOverride2.xml"/><Relationship Id="rId5" Type="http://schemas.openxmlformats.org/officeDocument/2006/relationships/image" Target="../media/image6.png"/><Relationship Id="rId4" Type="http://schemas.openxmlformats.org/officeDocument/2006/relationships/hyperlink" Target="https://app.powerbi.com/groups/me/reports/08565a57-0329-40d1-acd5-182dca003660/?pbi_source=PowerPoint"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app.powerbi.com/groups/me/reports/08565a57-0329-40d1-acd5-182dca003660/?pbi_source=PowerPoint" TargetMode="External"/><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42211DA6-1DA1-5FE6-E1B9-C61CD141879E}"/>
              </a:ext>
            </a:extLst>
          </p:cNvPr>
          <p:cNvGrpSpPr/>
          <p:nvPr/>
        </p:nvGrpSpPr>
        <p:grpSpPr>
          <a:xfrm>
            <a:off x="8626" y="8626"/>
            <a:ext cx="12192001" cy="6858000"/>
            <a:chOff x="0" y="0"/>
            <a:chExt cx="12192001" cy="6858000"/>
          </a:xfrm>
        </p:grpSpPr>
        <p:pic>
          <p:nvPicPr>
            <p:cNvPr id="3" name="Picture 2" descr="A white background with black and white clouds&#10;&#10;AI-generated content may be incorrect.">
              <a:extLst>
                <a:ext uri="{FF2B5EF4-FFF2-40B4-BE49-F238E27FC236}">
                  <a16:creationId xmlns:a16="http://schemas.microsoft.com/office/drawing/2014/main" id="{A10B4F96-ABD8-0A83-96A6-22CEBBAEC2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4733629"/>
              <a:ext cx="12192000" cy="2124371"/>
            </a:xfrm>
            <a:prstGeom prst="rect">
              <a:avLst/>
            </a:prstGeom>
          </p:spPr>
        </p:pic>
        <p:pic>
          <p:nvPicPr>
            <p:cNvPr id="5" name="Picture 4">
              <a:extLst>
                <a:ext uri="{FF2B5EF4-FFF2-40B4-BE49-F238E27FC236}">
                  <a16:creationId xmlns:a16="http://schemas.microsoft.com/office/drawing/2014/main" id="{EE362903-2FE7-5747-D5B9-E48E46A540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2810267"/>
            </a:xfrm>
            <a:prstGeom prst="rect">
              <a:avLst/>
            </a:prstGeom>
          </p:spPr>
        </p:pic>
      </p:grpSp>
      <p:sp>
        <p:nvSpPr>
          <p:cNvPr id="6" name="TextBox 5">
            <a:extLst>
              <a:ext uri="{FF2B5EF4-FFF2-40B4-BE49-F238E27FC236}">
                <a16:creationId xmlns:a16="http://schemas.microsoft.com/office/drawing/2014/main" id="{27121CFE-300A-97D9-73F5-BD4CF27AACCF}"/>
              </a:ext>
            </a:extLst>
          </p:cNvPr>
          <p:cNvSpPr txBox="1"/>
          <p:nvPr/>
        </p:nvSpPr>
        <p:spPr>
          <a:xfrm>
            <a:off x="1667690" y="2413852"/>
            <a:ext cx="9196251" cy="1366721"/>
          </a:xfrm>
          <a:prstGeom prst="rect">
            <a:avLst/>
          </a:prstGeom>
          <a:noFill/>
        </p:spPr>
        <p:txBody>
          <a:bodyPr wrap="square" rtlCol="0">
            <a:spAutoFit/>
          </a:bodyPr>
          <a:lstStyle/>
          <a:p>
            <a:pPr algn="ctr">
              <a:lnSpc>
                <a:spcPct val="150000"/>
              </a:lnSpc>
            </a:pPr>
            <a:r>
              <a:rPr lang="en-US" sz="2000" i="1" dirty="0">
                <a:latin typeface="Times New Roman" panose="02020603050405020304" pitchFamily="18" charset="0"/>
                <a:cs typeface="Times New Roman" panose="02020603050405020304" pitchFamily="18" charset="0"/>
              </a:rPr>
              <a:t>Presentation on </a:t>
            </a:r>
          </a:p>
          <a:p>
            <a:pPr algn="ctr">
              <a:lnSpc>
                <a:spcPct val="150000"/>
              </a:lnSpc>
            </a:pPr>
            <a:r>
              <a:rPr lang="en-US" altLang="en-US" sz="4000" b="1" dirty="0">
                <a:solidFill>
                  <a:srgbClr val="FF0000"/>
                </a:solidFill>
                <a:latin typeface="Times New Roman" panose="02020603050405020304" pitchFamily="18" charset="0"/>
                <a:cs typeface="Times New Roman" panose="02020603050405020304" pitchFamily="18" charset="0"/>
              </a:rPr>
              <a:t>Telecom Customer Churn Analysis</a:t>
            </a:r>
          </a:p>
        </p:txBody>
      </p:sp>
      <p:sp>
        <p:nvSpPr>
          <p:cNvPr id="8" name="TextBox 7">
            <a:extLst>
              <a:ext uri="{FF2B5EF4-FFF2-40B4-BE49-F238E27FC236}">
                <a16:creationId xmlns:a16="http://schemas.microsoft.com/office/drawing/2014/main" id="{A33BEBC7-CAA0-4EBF-C4E1-427501C98944}"/>
              </a:ext>
            </a:extLst>
          </p:cNvPr>
          <p:cNvSpPr txBox="1"/>
          <p:nvPr/>
        </p:nvSpPr>
        <p:spPr>
          <a:xfrm>
            <a:off x="7803322" y="5487618"/>
            <a:ext cx="3931920" cy="120032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Presented by :</a:t>
            </a:r>
          </a:p>
          <a:p>
            <a:r>
              <a:rPr lang="en-US" dirty="0">
                <a:latin typeface="Times New Roman" panose="02020603050405020304" pitchFamily="18" charset="0"/>
                <a:cs typeface="Times New Roman" panose="02020603050405020304" pitchFamily="18" charset="0"/>
              </a:rPr>
              <a:t>Name : </a:t>
            </a:r>
            <a:r>
              <a:rPr lang="en-US" b="1" dirty="0">
                <a:latin typeface="Times New Roman" panose="02020603050405020304" pitchFamily="18" charset="0"/>
                <a:cs typeface="Times New Roman" panose="02020603050405020304" pitchFamily="18" charset="0"/>
              </a:rPr>
              <a:t>B. Bhanu Sai Prakash</a:t>
            </a:r>
          </a:p>
          <a:p>
            <a:r>
              <a:rPr lang="en-US" dirty="0">
                <a:latin typeface="Times New Roman" panose="02020603050405020304" pitchFamily="18" charset="0"/>
                <a:cs typeface="Times New Roman" panose="02020603050405020304" pitchFamily="18" charset="0"/>
              </a:rPr>
              <a:t>Batch No : </a:t>
            </a:r>
            <a:r>
              <a:rPr lang="en-US" b="1" dirty="0">
                <a:latin typeface="Times New Roman" panose="02020603050405020304" pitchFamily="18" charset="0"/>
                <a:cs typeface="Times New Roman" panose="02020603050405020304" pitchFamily="18" charset="0"/>
              </a:rPr>
              <a:t>436</a:t>
            </a:r>
          </a:p>
          <a:p>
            <a:r>
              <a:rPr lang="en-US" dirty="0">
                <a:latin typeface="Times New Roman" panose="02020603050405020304" pitchFamily="18" charset="0"/>
                <a:cs typeface="Times New Roman" panose="02020603050405020304" pitchFamily="18" charset="0"/>
              </a:rPr>
              <a:t>Branch : </a:t>
            </a:r>
            <a:r>
              <a:rPr lang="en-US" b="1" dirty="0" err="1">
                <a:latin typeface="Times New Roman" panose="02020603050405020304" pitchFamily="18" charset="0"/>
                <a:cs typeface="Times New Roman" panose="02020603050405020304" pitchFamily="18" charset="0"/>
              </a:rPr>
              <a:t>Dilsukhnagar</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53892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B1F20-B426-FADC-D6EF-6A1394F1F25D}"/>
            </a:ext>
          </a:extLst>
        </p:cNvPr>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5F383544-AB66-497C-CF5D-122ED1080ABF}"/>
              </a:ext>
            </a:extLst>
          </p:cNvPr>
          <p:cNvPicPr>
            <a:picLocks noChangeAspect="1"/>
          </p:cNvPicPr>
          <p:nvPr/>
        </p:nvPicPr>
        <p:blipFill>
          <a:blip r:embed="rId2">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3" name="Title 1">
            <a:extLst>
              <a:ext uri="{FF2B5EF4-FFF2-40B4-BE49-F238E27FC236}">
                <a16:creationId xmlns:a16="http://schemas.microsoft.com/office/drawing/2014/main" id="{5AD38BAA-8DF6-B335-B98A-C5D18066119E}"/>
              </a:ext>
            </a:extLst>
          </p:cNvPr>
          <p:cNvSpPr txBox="1">
            <a:spLocks/>
          </p:cNvSpPr>
          <p:nvPr/>
        </p:nvSpPr>
        <p:spPr>
          <a:xfrm>
            <a:off x="674298" y="484736"/>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About me</a:t>
            </a:r>
            <a:br>
              <a:rPr lang="en-US" sz="4000" b="1" dirty="0">
                <a:solidFill>
                  <a:srgbClr val="FF0000"/>
                </a:solidFill>
                <a:latin typeface="Times New Roman" panose="02020603050405020304" pitchFamily="18" charset="0"/>
                <a:cs typeface="Times New Roman" panose="02020603050405020304" pitchFamily="18" charset="0"/>
              </a:rPr>
            </a:br>
            <a:r>
              <a:rPr lang="en-US" sz="4000" b="1" dirty="0">
                <a:solidFill>
                  <a:srgbClr val="FF0000"/>
                </a:solidFill>
                <a:latin typeface="Times New Roman" panose="02020603050405020304" pitchFamily="18" charset="0"/>
                <a:cs typeface="Times New Roman" panose="02020603050405020304" pitchFamily="18" charset="0"/>
              </a:rPr>
              <a:t> </a:t>
            </a:r>
            <a:br>
              <a:rPr lang="en-US" sz="4000" b="1" dirty="0">
                <a:solidFill>
                  <a:srgbClr val="FF0000"/>
                </a:solidFill>
                <a:latin typeface="Times New Roman" panose="02020603050405020304" pitchFamily="18" charset="0"/>
                <a:cs typeface="Times New Roman" panose="02020603050405020304" pitchFamily="18" charset="0"/>
              </a:rPr>
            </a:br>
            <a:endParaRPr lang="en-US" sz="4000" b="1"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537EB6F-3C77-2516-394E-919B6CC2A223}"/>
              </a:ext>
            </a:extLst>
          </p:cNvPr>
          <p:cNvSpPr txBox="1"/>
          <p:nvPr/>
        </p:nvSpPr>
        <p:spPr>
          <a:xfrm>
            <a:off x="345383" y="966787"/>
            <a:ext cx="11352974" cy="3585597"/>
          </a:xfrm>
          <a:prstGeom prst="rect">
            <a:avLst/>
          </a:prstGeom>
          <a:noFill/>
        </p:spPr>
        <p:txBody>
          <a:bodyPr wrap="square">
            <a:spAutoFit/>
          </a:bodyPr>
          <a:lstStyle/>
          <a:p>
            <a:pPr lvl="1" algn="just" eaLnBrk="0" fontAlgn="base" hangingPunct="0">
              <a:lnSpc>
                <a:spcPct val="150000"/>
              </a:lnSpc>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lvl="1" algn="just" eaLnBrk="0" fontAlgn="base" hangingPunct="0">
              <a:lnSpc>
                <a:spcPct val="150000"/>
              </a:lnSpc>
              <a:spcBef>
                <a:spcPct val="0"/>
              </a:spcBef>
              <a:spcAft>
                <a:spcPct val="0"/>
              </a:spcAft>
            </a:pPr>
            <a:r>
              <a:rPr lang="en-US" altLang="en-US" dirty="0">
                <a:latin typeface="Times New Roman" panose="02020603050405020304" pitchFamily="18" charset="0"/>
                <a:cs typeface="Times New Roman" panose="02020603050405020304" pitchFamily="18" charset="0"/>
              </a:rPr>
              <a:t>I am </a:t>
            </a:r>
            <a:r>
              <a:rPr lang="en-US" altLang="en-US" b="1" dirty="0">
                <a:latin typeface="Times New Roman" panose="02020603050405020304" pitchFamily="18" charset="0"/>
                <a:cs typeface="Times New Roman" panose="02020603050405020304" pitchFamily="18" charset="0"/>
              </a:rPr>
              <a:t>Bhanu Sai Prakash Bandaru. </a:t>
            </a:r>
          </a:p>
          <a:p>
            <a:pPr lvl="1" algn="just" eaLnBrk="0" fontAlgn="base" hangingPunct="0">
              <a:lnSpc>
                <a:spcPct val="150000"/>
              </a:lnSpc>
              <a:spcBef>
                <a:spcPct val="0"/>
              </a:spcBef>
              <a:spcAft>
                <a:spcPct val="0"/>
              </a:spcAft>
            </a:pPr>
            <a:endParaRPr lang="en-US" altLang="en-US" sz="1000" dirty="0">
              <a:latin typeface="Times New Roman" panose="02020603050405020304" pitchFamily="18" charset="0"/>
              <a:cs typeface="Times New Roman" panose="02020603050405020304" pitchFamily="18" charset="0"/>
            </a:endParaRPr>
          </a:p>
          <a:p>
            <a:pPr lvl="1" algn="just" eaLnBrk="0" fontAlgn="base" hangingPunct="0">
              <a:lnSpc>
                <a:spcPct val="150000"/>
              </a:lnSpc>
              <a:spcBef>
                <a:spcPct val="0"/>
              </a:spcBef>
              <a:spcAft>
                <a:spcPct val="0"/>
              </a:spcAft>
            </a:pPr>
            <a:r>
              <a:rPr lang="en-US" altLang="en-US" dirty="0">
                <a:latin typeface="Times New Roman" panose="02020603050405020304" pitchFamily="18" charset="0"/>
                <a:cs typeface="Times New Roman" panose="02020603050405020304" pitchFamily="18" charset="0"/>
              </a:rPr>
              <a:t>I completed my B.Tech in Computer Science and Engineering from M.V.G.R College of Engineering(Vizianagaram).</a:t>
            </a:r>
          </a:p>
          <a:p>
            <a:pPr lvl="1" algn="just" eaLnBrk="0" fontAlgn="base" hangingPunct="0">
              <a:lnSpc>
                <a:spcPct val="150000"/>
              </a:lnSpc>
              <a:spcBef>
                <a:spcPct val="0"/>
              </a:spcBef>
              <a:spcAft>
                <a:spcPct val="0"/>
              </a:spcAft>
            </a:pPr>
            <a:endParaRPr lang="en-US" altLang="en-US" sz="1000" dirty="0">
              <a:latin typeface="Times New Roman" panose="02020603050405020304" pitchFamily="18" charset="0"/>
              <a:cs typeface="Times New Roman" panose="02020603050405020304" pitchFamily="18" charset="0"/>
            </a:endParaRPr>
          </a:p>
          <a:p>
            <a:pPr lvl="1" algn="just" eaLnBrk="0" fontAlgn="base" hangingPunct="0">
              <a:lnSpc>
                <a:spcPct val="150000"/>
              </a:lnSpc>
              <a:spcBef>
                <a:spcPct val="0"/>
              </a:spcBef>
              <a:spcAft>
                <a:spcPct val="0"/>
              </a:spcAft>
            </a:pPr>
            <a:r>
              <a:rPr lang="en-US" altLang="en-US" dirty="0">
                <a:latin typeface="Times New Roman" panose="02020603050405020304" pitchFamily="18" charset="0"/>
                <a:cs typeface="Times New Roman" panose="02020603050405020304" pitchFamily="18" charset="0"/>
              </a:rPr>
              <a:t>Linkedin : </a:t>
            </a:r>
            <a:r>
              <a:rPr lang="en-US" altLang="en-US" dirty="0">
                <a:latin typeface="Times New Roman" panose="02020603050405020304" pitchFamily="18" charset="0"/>
                <a:cs typeface="Times New Roman" panose="02020603050405020304" pitchFamily="18" charset="0"/>
                <a:hlinkClick r:id="rId3"/>
              </a:rPr>
              <a:t>https://www.linkedin.com/in/bhanu-sai-prakash-bandaru-22a1b8204/</a:t>
            </a:r>
            <a:endParaRPr lang="en-US" altLang="en-US" dirty="0">
              <a:latin typeface="Times New Roman" panose="02020603050405020304" pitchFamily="18" charset="0"/>
              <a:cs typeface="Times New Roman" panose="02020603050405020304" pitchFamily="18" charset="0"/>
            </a:endParaRPr>
          </a:p>
          <a:p>
            <a:pPr lvl="1" algn="just" eaLnBrk="0" fontAlgn="base" hangingPunct="0">
              <a:lnSpc>
                <a:spcPct val="150000"/>
              </a:lnSpc>
              <a:spcBef>
                <a:spcPct val="0"/>
              </a:spcBef>
              <a:spcAft>
                <a:spcPct val="0"/>
              </a:spcAft>
            </a:pPr>
            <a:endParaRPr lang="en-US" altLang="en-US" sz="1000" dirty="0">
              <a:latin typeface="Times New Roman" panose="02020603050405020304" pitchFamily="18" charset="0"/>
              <a:cs typeface="Times New Roman" panose="02020603050405020304" pitchFamily="18" charset="0"/>
            </a:endParaRPr>
          </a:p>
          <a:p>
            <a:pPr lvl="1" algn="just" eaLnBrk="0" fontAlgn="base" hangingPunct="0">
              <a:lnSpc>
                <a:spcPct val="150000"/>
              </a:lnSpc>
              <a:spcBef>
                <a:spcPct val="0"/>
              </a:spcBef>
              <a:spcAft>
                <a:spcPct val="0"/>
              </a:spcAft>
            </a:pPr>
            <a:r>
              <a:rPr lang="en-US" altLang="en-US" dirty="0">
                <a:latin typeface="Times New Roman" panose="02020603050405020304" pitchFamily="18" charset="0"/>
                <a:cs typeface="Times New Roman" panose="02020603050405020304" pitchFamily="18" charset="0"/>
              </a:rPr>
              <a:t>Github : </a:t>
            </a:r>
            <a:r>
              <a:rPr lang="en-US" altLang="en-US" dirty="0">
                <a:latin typeface="Times New Roman" panose="02020603050405020304" pitchFamily="18" charset="0"/>
                <a:cs typeface="Times New Roman" panose="02020603050405020304" pitchFamily="18" charset="0"/>
                <a:hlinkClick r:id="rId4"/>
              </a:rPr>
              <a:t>https://github.com/bhanusaiprakashbandaru</a:t>
            </a:r>
            <a:endParaRPr lang="en-US" altLang="en-US" dirty="0">
              <a:latin typeface="Times New Roman" panose="02020603050405020304" pitchFamily="18" charset="0"/>
              <a:cs typeface="Times New Roman" panose="02020603050405020304" pitchFamily="18" charset="0"/>
            </a:endParaRPr>
          </a:p>
          <a:p>
            <a:pPr lvl="1" algn="just"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653331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E4A75-2A09-1EEE-72AA-2F73484D86C5}"/>
              </a:ext>
            </a:extLst>
          </p:cNvPr>
          <p:cNvSpPr txBox="1">
            <a:spLocks/>
          </p:cNvSpPr>
          <p:nvPr/>
        </p:nvSpPr>
        <p:spPr>
          <a:xfrm>
            <a:off x="674298" y="484736"/>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Agenda</a:t>
            </a:r>
            <a:br>
              <a:rPr lang="en-US" sz="4000" b="1" dirty="0">
                <a:solidFill>
                  <a:srgbClr val="FF0000"/>
                </a:solidFill>
                <a:latin typeface="Times New Roman" panose="02020603050405020304" pitchFamily="18" charset="0"/>
                <a:cs typeface="Times New Roman" panose="02020603050405020304" pitchFamily="18" charset="0"/>
              </a:rPr>
            </a:br>
            <a:br>
              <a:rPr lang="en-US" sz="4000" b="1" dirty="0">
                <a:solidFill>
                  <a:srgbClr val="FF0000"/>
                </a:solidFill>
                <a:latin typeface="Times New Roman" panose="02020603050405020304" pitchFamily="18" charset="0"/>
                <a:cs typeface="Times New Roman" panose="02020603050405020304" pitchFamily="18" charset="0"/>
              </a:rPr>
            </a:br>
            <a:r>
              <a:rPr lang="en-US" sz="4000" b="1" dirty="0">
                <a:solidFill>
                  <a:srgbClr val="FF0000"/>
                </a:solidFill>
                <a:latin typeface="Times New Roman" panose="02020603050405020304" pitchFamily="18" charset="0"/>
                <a:cs typeface="Times New Roman" panose="02020603050405020304" pitchFamily="18" charset="0"/>
              </a:rPr>
              <a:t> </a:t>
            </a:r>
            <a:br>
              <a:rPr lang="en-US" sz="4000" b="1" dirty="0">
                <a:solidFill>
                  <a:srgbClr val="FF0000"/>
                </a:solidFill>
                <a:latin typeface="Times New Roman" panose="02020603050405020304" pitchFamily="18" charset="0"/>
                <a:cs typeface="Times New Roman" panose="02020603050405020304" pitchFamily="18" charset="0"/>
              </a:rPr>
            </a:br>
            <a:endParaRPr lang="en-US" sz="4000" b="1" dirty="0">
              <a:solidFill>
                <a:srgbClr val="FF0000"/>
              </a:solidFill>
              <a:latin typeface="Times New Roman" panose="02020603050405020304" pitchFamily="18" charset="0"/>
              <a:cs typeface="Times New Roman" panose="02020603050405020304" pitchFamily="18" charset="0"/>
            </a:endParaRPr>
          </a:p>
        </p:txBody>
      </p:sp>
      <p:pic>
        <p:nvPicPr>
          <p:cNvPr id="3" name="Picture 2" descr="A close up of a logo&#10;&#10;AI-generated content may be incorrect.">
            <a:extLst>
              <a:ext uri="{FF2B5EF4-FFF2-40B4-BE49-F238E27FC236}">
                <a16:creationId xmlns:a16="http://schemas.microsoft.com/office/drawing/2014/main" id="{DF4B61A4-5B86-74D0-78E5-B49E1A0CC328}"/>
              </a:ext>
            </a:extLst>
          </p:cNvPr>
          <p:cNvPicPr>
            <a:picLocks noChangeAspect="1"/>
          </p:cNvPicPr>
          <p:nvPr/>
        </p:nvPicPr>
        <p:blipFill>
          <a:blip r:embed="rId2">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8" name="TextBox 7">
            <a:extLst>
              <a:ext uri="{FF2B5EF4-FFF2-40B4-BE49-F238E27FC236}">
                <a16:creationId xmlns:a16="http://schemas.microsoft.com/office/drawing/2014/main" id="{830B37D4-B892-1CE2-A25A-BC1730411A5B}"/>
              </a:ext>
            </a:extLst>
          </p:cNvPr>
          <p:cNvSpPr txBox="1"/>
          <p:nvPr/>
        </p:nvSpPr>
        <p:spPr>
          <a:xfrm>
            <a:off x="674298" y="1333009"/>
            <a:ext cx="9727096" cy="4653646"/>
          </a:xfrm>
          <a:prstGeom prst="rect">
            <a:avLst/>
          </a:prstGeom>
          <a:noFill/>
        </p:spPr>
        <p:txBody>
          <a:bodyPr wrap="square">
            <a:spAutoFit/>
          </a:bodyPr>
          <a:lstStyle/>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Introduction</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Problem Statement</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Objectives</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Data Collection &amp; Cleaning</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Dashboard Navigation / Overview</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Dashboards (Demographics → Services → Contract &amp; Billing → Key Drivers)</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Executive Summary </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Business Recommendations to Reduce Churn</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Conclusion</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Q&amp;A</a:t>
            </a:r>
          </a:p>
        </p:txBody>
      </p:sp>
    </p:spTree>
    <p:extLst>
      <p:ext uri="{BB962C8B-B14F-4D97-AF65-F5344CB8AC3E}">
        <p14:creationId xmlns:p14="http://schemas.microsoft.com/office/powerpoint/2010/main" val="8601264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212ED-4149-6D4F-F371-AA2C2199AFF0}"/>
            </a:ext>
          </a:extLst>
        </p:cNvPr>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C2128297-8A62-CFD0-00E9-5367981D9A19}"/>
              </a:ext>
            </a:extLst>
          </p:cNvPr>
          <p:cNvPicPr>
            <a:picLocks noChangeAspect="1"/>
          </p:cNvPicPr>
          <p:nvPr/>
        </p:nvPicPr>
        <p:blipFill>
          <a:blip r:embed="rId3">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3" name="Title 1">
            <a:extLst>
              <a:ext uri="{FF2B5EF4-FFF2-40B4-BE49-F238E27FC236}">
                <a16:creationId xmlns:a16="http://schemas.microsoft.com/office/drawing/2014/main" id="{F867DB17-FC89-34AB-BBF1-766B8D6E584B}"/>
              </a:ext>
            </a:extLst>
          </p:cNvPr>
          <p:cNvSpPr txBox="1">
            <a:spLocks/>
          </p:cNvSpPr>
          <p:nvPr/>
        </p:nvSpPr>
        <p:spPr>
          <a:xfrm>
            <a:off x="674298" y="484736"/>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Introduction </a:t>
            </a:r>
            <a:br>
              <a:rPr lang="en-US" sz="4000" b="1" dirty="0">
                <a:solidFill>
                  <a:srgbClr val="FF0000"/>
                </a:solidFill>
                <a:latin typeface="Times New Roman" panose="02020603050405020304" pitchFamily="18" charset="0"/>
                <a:cs typeface="Times New Roman" panose="02020603050405020304" pitchFamily="18" charset="0"/>
              </a:rPr>
            </a:br>
            <a:endParaRPr lang="en-US" sz="4000" b="1" dirty="0">
              <a:solidFill>
                <a:srgbClr val="FF000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C498B24-FB36-380F-AE9B-58299CD7920A}"/>
              </a:ext>
            </a:extLst>
          </p:cNvPr>
          <p:cNvSpPr txBox="1"/>
          <p:nvPr/>
        </p:nvSpPr>
        <p:spPr>
          <a:xfrm>
            <a:off x="674298" y="1071234"/>
            <a:ext cx="11234673" cy="5355312"/>
          </a:xfrm>
          <a:prstGeom prst="rect">
            <a:avLst/>
          </a:prstGeom>
          <a:noFill/>
        </p:spPr>
        <p:txBody>
          <a:bodyPr wrap="square" rtlCol="0">
            <a:spAutoFit/>
          </a:bodyPr>
          <a:lstStyle/>
          <a:p>
            <a:pPr algn="just">
              <a:lnSpc>
                <a:spcPct val="200000"/>
              </a:lnSpc>
            </a:pPr>
            <a:r>
              <a:rPr lang="en-US" dirty="0">
                <a:latin typeface="Times New Roman" panose="02020603050405020304" pitchFamily="18" charset="0"/>
                <a:cs typeface="Times New Roman" panose="02020603050405020304" pitchFamily="18" charset="0"/>
              </a:rPr>
              <a:t>The Telecom Customer Churn Analysis project aims to understand why customers discontinue their telecom services and identify the key factors that influence churn. Telecom companies collect large amounts of customer data, including demographics, service subscriptions, billing details, and usage patterns, but much of this information remains unused for business decision-making.</a:t>
            </a:r>
          </a:p>
          <a:p>
            <a:pPr algn="just">
              <a:lnSpc>
                <a:spcPct val="200000"/>
              </a:lnSpc>
            </a:pPr>
            <a:r>
              <a:rPr lang="en-US" dirty="0">
                <a:latin typeface="Times New Roman" panose="02020603050405020304" pitchFamily="18" charset="0"/>
                <a:cs typeface="Times New Roman" panose="02020603050405020304" pitchFamily="18" charset="0"/>
              </a:rPr>
              <a:t>By analyzing this dataset in Power BI, we can uncover hidden patterns in customer behavior, identify high-risk groups, and understand which services or contract types drive churn. This enables the company to take proactive actions to reduce customer loss.</a:t>
            </a:r>
          </a:p>
          <a:p>
            <a:pPr algn="just">
              <a:lnSpc>
                <a:spcPct val="200000"/>
              </a:lnSpc>
            </a:pPr>
            <a:r>
              <a:rPr lang="en-US" dirty="0">
                <a:latin typeface="Times New Roman" panose="02020603050405020304" pitchFamily="18" charset="0"/>
                <a:cs typeface="Times New Roman" panose="02020603050405020304" pitchFamily="18" charset="0"/>
              </a:rPr>
              <a:t>The interactive dashboard provides meaningful insights that support customer retention, revenue protection, and strategic decision-making for telecom organizations.</a:t>
            </a:r>
          </a:p>
          <a:p>
            <a:endParaRPr lang="en-US" dirty="0"/>
          </a:p>
        </p:txBody>
      </p:sp>
    </p:spTree>
    <p:extLst>
      <p:ext uri="{BB962C8B-B14F-4D97-AF65-F5344CB8AC3E}">
        <p14:creationId xmlns:p14="http://schemas.microsoft.com/office/powerpoint/2010/main" val="27972386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F3FFA-F2A0-2E85-B688-79C6FEE804D7}"/>
            </a:ext>
          </a:extLst>
        </p:cNvPr>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9A3F4DEC-D5E8-4246-643D-727F49761244}"/>
              </a:ext>
            </a:extLst>
          </p:cNvPr>
          <p:cNvPicPr>
            <a:picLocks noChangeAspect="1"/>
          </p:cNvPicPr>
          <p:nvPr/>
        </p:nvPicPr>
        <p:blipFill>
          <a:blip r:embed="rId2">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3" name="Title 1">
            <a:extLst>
              <a:ext uri="{FF2B5EF4-FFF2-40B4-BE49-F238E27FC236}">
                <a16:creationId xmlns:a16="http://schemas.microsoft.com/office/drawing/2014/main" id="{2553DBE1-59FA-1A71-32C8-0DA2B4B43C00}"/>
              </a:ext>
            </a:extLst>
          </p:cNvPr>
          <p:cNvSpPr txBox="1">
            <a:spLocks/>
          </p:cNvSpPr>
          <p:nvPr/>
        </p:nvSpPr>
        <p:spPr>
          <a:xfrm>
            <a:off x="674298" y="484736"/>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Problem Statement </a:t>
            </a:r>
            <a:br>
              <a:rPr lang="en-US" sz="4000" b="1" dirty="0">
                <a:solidFill>
                  <a:srgbClr val="FF0000"/>
                </a:solidFill>
                <a:latin typeface="Times New Roman" panose="02020603050405020304" pitchFamily="18" charset="0"/>
                <a:cs typeface="Times New Roman" panose="02020603050405020304" pitchFamily="18" charset="0"/>
              </a:rPr>
            </a:br>
            <a:endParaRPr lang="en-US" sz="4000" b="1"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AC3E415-6882-4AF1-A796-5D1E8DFCEBA2}"/>
              </a:ext>
            </a:extLst>
          </p:cNvPr>
          <p:cNvSpPr txBox="1"/>
          <p:nvPr/>
        </p:nvSpPr>
        <p:spPr>
          <a:xfrm>
            <a:off x="674298" y="1017952"/>
            <a:ext cx="11169359" cy="5355312"/>
          </a:xfrm>
          <a:prstGeom prst="rect">
            <a:avLst/>
          </a:prstGeom>
          <a:noFill/>
        </p:spPr>
        <p:txBody>
          <a:bodyPr wrap="square" rtlCol="0">
            <a:spAutoFit/>
          </a:bodyPr>
          <a:lstStyle/>
          <a:p>
            <a:pPr algn="just">
              <a:lnSpc>
                <a:spcPct val="200000"/>
              </a:lnSpc>
            </a:pPr>
            <a:r>
              <a:rPr lang="en-US" dirty="0">
                <a:latin typeface="Times New Roman" panose="02020603050405020304" pitchFamily="18" charset="0"/>
                <a:cs typeface="Times New Roman" panose="02020603050405020304" pitchFamily="18" charset="0"/>
              </a:rPr>
              <a:t>Telecom companies face difficulty understanding why customers discontinue their services.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Without proper churn insights, they struggle to:</a:t>
            </a:r>
          </a:p>
          <a:p>
            <a:pPr marL="742950" lvl="1" indent="-285750" algn="just">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Identify high-risk customers before they leave</a:t>
            </a:r>
          </a:p>
          <a:p>
            <a:pPr marL="742950" lvl="1" indent="-285750" algn="just">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Understand which services, payment methods, or contract types contribute to churn</a:t>
            </a:r>
          </a:p>
          <a:p>
            <a:pPr marL="742950" lvl="1" indent="-285750" algn="just">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Detect early-stage churn indicators such as low tenure or high monthly charges</a:t>
            </a:r>
          </a:p>
          <a:p>
            <a:pPr marL="742950" lvl="1" indent="-285750" algn="just">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Design targeted retention strategies for specific customer segments</a:t>
            </a:r>
          </a:p>
          <a:p>
            <a:pPr marL="742950" lvl="1" indent="-285750" algn="just">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Reduce revenue loss caused by customer churn</a:t>
            </a:r>
          </a:p>
          <a:p>
            <a:pPr algn="just">
              <a:lnSpc>
                <a:spcPct val="200000"/>
              </a:lnSpc>
            </a:pPr>
            <a:r>
              <a:rPr lang="en-US" dirty="0">
                <a:latin typeface="Times New Roman" panose="02020603050405020304" pitchFamily="18" charset="0"/>
                <a:cs typeface="Times New Roman" panose="02020603050405020304" pitchFamily="18" charset="0"/>
              </a:rPr>
              <a:t>This project aims to address these issues by using Power BI to analyze and visualize telecom customer data, enabling faster and more accurate decision-making.</a:t>
            </a:r>
          </a:p>
          <a:p>
            <a:endParaRPr lang="en-US" dirty="0"/>
          </a:p>
        </p:txBody>
      </p:sp>
    </p:spTree>
    <p:extLst>
      <p:ext uri="{BB962C8B-B14F-4D97-AF65-F5344CB8AC3E}">
        <p14:creationId xmlns:p14="http://schemas.microsoft.com/office/powerpoint/2010/main" val="28615129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42C3C-C547-FD27-119C-4AE561E42B83}"/>
            </a:ext>
          </a:extLst>
        </p:cNvPr>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A4900404-5D34-BD26-B6A4-71521F8A4041}"/>
              </a:ext>
            </a:extLst>
          </p:cNvPr>
          <p:cNvPicPr>
            <a:picLocks noChangeAspect="1"/>
          </p:cNvPicPr>
          <p:nvPr/>
        </p:nvPicPr>
        <p:blipFill>
          <a:blip r:embed="rId2">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3" name="Title 1">
            <a:extLst>
              <a:ext uri="{FF2B5EF4-FFF2-40B4-BE49-F238E27FC236}">
                <a16:creationId xmlns:a16="http://schemas.microsoft.com/office/drawing/2014/main" id="{05111582-25E9-8788-BB78-C48711A0F7C8}"/>
              </a:ext>
            </a:extLst>
          </p:cNvPr>
          <p:cNvSpPr txBox="1">
            <a:spLocks/>
          </p:cNvSpPr>
          <p:nvPr/>
        </p:nvSpPr>
        <p:spPr>
          <a:xfrm>
            <a:off x="674298" y="484736"/>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Objective</a:t>
            </a:r>
          </a:p>
        </p:txBody>
      </p:sp>
      <p:sp>
        <p:nvSpPr>
          <p:cNvPr id="6" name="TextBox 5">
            <a:extLst>
              <a:ext uri="{FF2B5EF4-FFF2-40B4-BE49-F238E27FC236}">
                <a16:creationId xmlns:a16="http://schemas.microsoft.com/office/drawing/2014/main" id="{325AA171-6B6D-32DD-208A-28EA1027CAD5}"/>
              </a:ext>
            </a:extLst>
          </p:cNvPr>
          <p:cNvSpPr txBox="1"/>
          <p:nvPr/>
        </p:nvSpPr>
        <p:spPr>
          <a:xfrm>
            <a:off x="674298" y="1156185"/>
            <a:ext cx="10559759" cy="3331938"/>
          </a:xfrm>
          <a:prstGeom prst="rect">
            <a:avLst/>
          </a:prstGeom>
          <a:noFill/>
        </p:spPr>
        <p:txBody>
          <a:bodyPr wrap="square" rtlCol="0">
            <a:spAutoFit/>
          </a:bodyPr>
          <a:lstStyle/>
          <a:p>
            <a:pPr marL="285750" lvl="0" indent="-285750" algn="just" eaLnBrk="0" fontAlgn="base" hangingPunct="0">
              <a:lnSpc>
                <a:spcPct val="20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To analyze customer demographics and understand behavioral patterns</a:t>
            </a:r>
          </a:p>
          <a:p>
            <a:pPr marL="285750" lvl="0" indent="-285750" algn="just" eaLnBrk="0" fontAlgn="base" hangingPunct="0">
              <a:lnSpc>
                <a:spcPct val="20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To study the impact of internet service type and add-on services on customer retention</a:t>
            </a:r>
          </a:p>
          <a:p>
            <a:pPr marL="285750" lvl="0" indent="-285750" algn="just" eaLnBrk="0" fontAlgn="base" hangingPunct="0">
              <a:lnSpc>
                <a:spcPct val="20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To compare churn rates across different contract types and payment methods</a:t>
            </a:r>
          </a:p>
          <a:p>
            <a:pPr marL="285750" lvl="0" indent="-285750" algn="just" eaLnBrk="0" fontAlgn="base" hangingPunct="0">
              <a:lnSpc>
                <a:spcPct val="20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To identify high-risk customer segments based on tenure, charges, and service usage</a:t>
            </a:r>
          </a:p>
          <a:p>
            <a:pPr marL="285750" lvl="0" indent="-285750" algn="just" eaLnBrk="0" fontAlgn="base" hangingPunct="0">
              <a:lnSpc>
                <a:spcPct val="20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To build interactive dashboards using Power BI for quick decision-making</a:t>
            </a:r>
          </a:p>
          <a:p>
            <a:pPr marL="285750" lvl="0" indent="-285750" algn="just" eaLnBrk="0" fontAlgn="base" hangingPunct="0">
              <a:lnSpc>
                <a:spcPct val="20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To provide actionable recommendations to reduce customer churn and improve retention</a:t>
            </a:r>
          </a:p>
        </p:txBody>
      </p:sp>
    </p:spTree>
    <p:extLst>
      <p:ext uri="{BB962C8B-B14F-4D97-AF65-F5344CB8AC3E}">
        <p14:creationId xmlns:p14="http://schemas.microsoft.com/office/powerpoint/2010/main" val="39814859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C9D2EED-69BA-3FA0-1CA0-E3F900F2CA04}"/>
              </a:ext>
            </a:extLst>
          </p:cNvPr>
          <p:cNvSpPr txBox="1">
            <a:spLocks/>
          </p:cNvSpPr>
          <p:nvPr/>
        </p:nvSpPr>
        <p:spPr>
          <a:xfrm>
            <a:off x="576327" y="282562"/>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Steps for Collecting the Data</a:t>
            </a:r>
          </a:p>
          <a:p>
            <a:br>
              <a:rPr lang="en-US" sz="4000" b="1" dirty="0">
                <a:solidFill>
                  <a:srgbClr val="FF0000"/>
                </a:solidFill>
                <a:latin typeface="Times New Roman" panose="02020603050405020304" pitchFamily="18" charset="0"/>
                <a:cs typeface="Times New Roman" panose="02020603050405020304" pitchFamily="18" charset="0"/>
              </a:rPr>
            </a:br>
            <a:endParaRPr lang="en-US" sz="4000" b="1" dirty="0">
              <a:solidFill>
                <a:srgbClr val="FF000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D538BA9-3B22-4657-BCD1-3B7AE4A9C47C}"/>
              </a:ext>
            </a:extLst>
          </p:cNvPr>
          <p:cNvSpPr txBox="1"/>
          <p:nvPr/>
        </p:nvSpPr>
        <p:spPr>
          <a:xfrm>
            <a:off x="576327" y="943127"/>
            <a:ext cx="11244942" cy="5444054"/>
          </a:xfrm>
          <a:prstGeom prst="rect">
            <a:avLst/>
          </a:prstGeom>
          <a:noFill/>
        </p:spPr>
        <p:txBody>
          <a:bodyPr wrap="square">
            <a:spAutoFit/>
          </a:bodyPr>
          <a:lstStyle/>
          <a:p>
            <a:pPr>
              <a:lnSpc>
                <a:spcPct val="150000"/>
              </a:lnSpc>
              <a:buNone/>
            </a:pPr>
            <a:r>
              <a:rPr lang="en-US" b="1" dirty="0">
                <a:solidFill>
                  <a:schemeClr val="accent5">
                    <a:lumMod val="50000"/>
                  </a:schemeClr>
                </a:solidFill>
                <a:latin typeface="Times New Roman" panose="02020603050405020304" pitchFamily="18" charset="0"/>
                <a:cs typeface="Times New Roman" panose="02020603050405020304" pitchFamily="18" charset="0"/>
              </a:rPr>
              <a:t>Identify Data Source: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dataset was sourced from a telecom provider’s customer management system, which records customer details, subscribed services, contract information, billing preferences, and churn status.</a:t>
            </a:r>
          </a:p>
          <a:p>
            <a:pPr>
              <a:lnSpc>
                <a:spcPct val="150000"/>
              </a:lnSpc>
              <a:buNone/>
            </a:pPr>
            <a:r>
              <a:rPr lang="en-US" b="1" dirty="0">
                <a:solidFill>
                  <a:schemeClr val="accent5">
                    <a:lumMod val="50000"/>
                  </a:schemeClr>
                </a:solidFill>
                <a:latin typeface="Times New Roman" panose="02020603050405020304" pitchFamily="18" charset="0"/>
                <a:cs typeface="Times New Roman" panose="02020603050405020304" pitchFamily="18" charset="0"/>
              </a:rPr>
              <a:t>Select Required Fields: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Important fields such as customer ID, gender, senior citizen flag, tenure, internet service type, phone service, add-on services, contract type, billing preferences, payment method, and monthly/total charges were selected for analysis.</a:t>
            </a:r>
          </a:p>
          <a:p>
            <a:pPr>
              <a:lnSpc>
                <a:spcPct val="150000"/>
              </a:lnSpc>
              <a:buNone/>
            </a:pPr>
            <a:r>
              <a:rPr lang="en-US" b="1" dirty="0">
                <a:solidFill>
                  <a:schemeClr val="accent5">
                    <a:lumMod val="50000"/>
                  </a:schemeClr>
                </a:solidFill>
                <a:latin typeface="Times New Roman" panose="02020603050405020304" pitchFamily="18" charset="0"/>
                <a:cs typeface="Times New Roman" panose="02020603050405020304" pitchFamily="18" charset="0"/>
              </a:rPr>
              <a:t>Churn Indicator: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 churn column is included, indicating whether the customer left the service ("Yes") or stayed ("No").</a:t>
            </a:r>
          </a:p>
          <a:p>
            <a:pPr>
              <a:lnSpc>
                <a:spcPct val="150000"/>
              </a:lnSpc>
              <a:buNone/>
            </a:pPr>
            <a:r>
              <a:rPr lang="en-US" b="1" dirty="0">
                <a:solidFill>
                  <a:schemeClr val="accent5">
                    <a:lumMod val="50000"/>
                  </a:schemeClr>
                </a:solidFill>
                <a:latin typeface="Times New Roman" panose="02020603050405020304" pitchFamily="18" charset="0"/>
                <a:cs typeface="Times New Roman" panose="02020603050405020304" pitchFamily="18" charset="0"/>
              </a:rPr>
              <a:t>Export Data:</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dataset was exported into a CSV file for easy processing and compatibility with Power BI.</a:t>
            </a:r>
          </a:p>
          <a:p>
            <a:pPr>
              <a:lnSpc>
                <a:spcPct val="150000"/>
              </a:lnSpc>
              <a:buNone/>
            </a:pPr>
            <a:r>
              <a:rPr lang="en-US" b="1" dirty="0">
                <a:solidFill>
                  <a:schemeClr val="accent5">
                    <a:lumMod val="50000"/>
                  </a:schemeClr>
                </a:solidFill>
                <a:latin typeface="Times New Roman" panose="02020603050405020304" pitchFamily="18" charset="0"/>
                <a:cs typeface="Times New Roman" panose="02020603050405020304" pitchFamily="18" charset="0"/>
              </a:rPr>
              <a:t>Load Data into Power BI:</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CSV file was imported into Power BI, where the data was explored, cleaned, and transformed for dashboard creation.</a:t>
            </a:r>
          </a:p>
        </p:txBody>
      </p:sp>
      <p:pic>
        <p:nvPicPr>
          <p:cNvPr id="7" name="Picture 6" descr="A close up of a logo&#10;&#10;AI-generated content may be incorrect.">
            <a:extLst>
              <a:ext uri="{FF2B5EF4-FFF2-40B4-BE49-F238E27FC236}">
                <a16:creationId xmlns:a16="http://schemas.microsoft.com/office/drawing/2014/main" id="{B9C9DEC8-AF87-F972-92A5-599256524BF8}"/>
              </a:ext>
            </a:extLst>
          </p:cNvPr>
          <p:cNvPicPr>
            <a:picLocks noChangeAspect="1"/>
          </p:cNvPicPr>
          <p:nvPr/>
        </p:nvPicPr>
        <p:blipFill>
          <a:blip r:embed="rId3">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Tree>
    <p:extLst>
      <p:ext uri="{BB962C8B-B14F-4D97-AF65-F5344CB8AC3E}">
        <p14:creationId xmlns:p14="http://schemas.microsoft.com/office/powerpoint/2010/main" val="27840544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37656CB7-76C5-D7F0-873B-2E4CD46F2DD6}"/>
              </a:ext>
            </a:extLst>
          </p:cNvPr>
          <p:cNvPicPr>
            <a:picLocks noChangeAspect="1"/>
          </p:cNvPicPr>
          <p:nvPr/>
        </p:nvPicPr>
        <p:blipFill>
          <a:blip r:embed="rId2">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6" name="TextBox 5">
            <a:extLst>
              <a:ext uri="{FF2B5EF4-FFF2-40B4-BE49-F238E27FC236}">
                <a16:creationId xmlns:a16="http://schemas.microsoft.com/office/drawing/2014/main" id="{77272D5E-B7B4-3E41-BE32-26EAFD52BDBC}"/>
              </a:ext>
            </a:extLst>
          </p:cNvPr>
          <p:cNvSpPr txBox="1"/>
          <p:nvPr/>
        </p:nvSpPr>
        <p:spPr>
          <a:xfrm>
            <a:off x="576327" y="943127"/>
            <a:ext cx="11354416" cy="3435812"/>
          </a:xfrm>
          <a:prstGeom prst="rect">
            <a:avLst/>
          </a:prstGeom>
          <a:noFill/>
        </p:spPr>
        <p:txBody>
          <a:bodyPr wrap="square">
            <a:spAutoFit/>
          </a:bodyPr>
          <a:lstStyle/>
          <a:p>
            <a:pPr marL="0" marR="0" lvl="0" indent="0" algn="just" defTabSz="914400" rtl="0" eaLnBrk="0" fontAlgn="base" latinLnBrk="0" hangingPunct="0">
              <a:lnSpc>
                <a:spcPct val="250000"/>
              </a:lnSpc>
              <a:spcBef>
                <a:spcPct val="0"/>
              </a:spcBef>
              <a:spcAft>
                <a:spcPct val="0"/>
              </a:spcAft>
              <a:buClrTx/>
              <a:buSzTx/>
              <a:tabLst/>
            </a:pP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Checked and fixed </a:t>
            </a:r>
            <a:r>
              <a:rPr kumimoji="0" lang="en-US" altLang="en-US" sz="1800" b="1"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missing values</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important columns like Total Charges, Tenure, and Monthly Charges.</a:t>
            </a:r>
          </a:p>
          <a:p>
            <a:pPr marL="0" marR="0" lvl="0" indent="0" algn="just" defTabSz="914400" rtl="0" eaLnBrk="0" fontAlgn="base" latinLnBrk="0" hangingPunct="0">
              <a:lnSpc>
                <a:spcPct val="250000"/>
              </a:lnSpc>
              <a:spcBef>
                <a:spcPct val="0"/>
              </a:spcBef>
              <a:spcAft>
                <a:spcPct val="0"/>
              </a:spcAft>
              <a:buClrTx/>
              <a:buSzTx/>
              <a:tabLst/>
            </a:pP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Standardized category names, for example combining "No internet service" with "No" to avoid confusion.</a:t>
            </a:r>
          </a:p>
          <a:p>
            <a:pPr marL="0" marR="0" lvl="0" indent="0" algn="just" defTabSz="914400" rtl="0" eaLnBrk="0" fontAlgn="base" latinLnBrk="0" hangingPunct="0">
              <a:lnSpc>
                <a:spcPct val="250000"/>
              </a:lnSpc>
              <a:spcBef>
                <a:spcPct val="0"/>
              </a:spcBef>
              <a:spcAft>
                <a:spcPct val="0"/>
              </a:spcAft>
              <a:buClrTx/>
              <a:buSzTx/>
              <a:tabLst/>
            </a:pP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Created useful </a:t>
            </a:r>
            <a:r>
              <a:rPr kumimoji="0" lang="en-US" altLang="en-US" sz="1800" b="1"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DAX measures</a:t>
            </a:r>
            <a:r>
              <a:rPr kumimoji="0" lang="en-US" altLang="en-US" sz="1800" b="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 </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such as Churn Rate, Churn Count, and Average Tenure for better analysis.</a:t>
            </a:r>
          </a:p>
          <a:p>
            <a:pPr marL="0" marR="0" lvl="0" indent="0" algn="just" defTabSz="914400" rtl="0" eaLnBrk="0" fontAlgn="base" latinLnBrk="0" hangingPunct="0">
              <a:lnSpc>
                <a:spcPct val="250000"/>
              </a:lnSpc>
              <a:spcBef>
                <a:spcPct val="0"/>
              </a:spcBef>
              <a:spcAft>
                <a:spcPct val="0"/>
              </a:spcAft>
              <a:buClrTx/>
              <a:buSzTx/>
              <a:tabLst/>
            </a:pP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Grouped Tenure into clear segments like </a:t>
            </a:r>
            <a:r>
              <a:rPr kumimoji="0" lang="en-US" altLang="en-US" sz="1800" b="1"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0–12 Months, 13–24 Months</a:t>
            </a:r>
            <a:r>
              <a:rPr kumimoji="0" lang="en-US" altLang="en-US" sz="18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800" b="1"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25+ Months</a:t>
            </a:r>
            <a:r>
              <a:rPr kumimoji="0" lang="en-US" altLang="en-US" sz="1800" b="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 </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study customer lifecycle.</a:t>
            </a:r>
          </a:p>
          <a:p>
            <a:pPr marL="0" marR="0" lvl="0" indent="0" algn="just" defTabSz="914400" rtl="0" eaLnBrk="0" fontAlgn="base" latinLnBrk="0" hangingPunct="0">
              <a:lnSpc>
                <a:spcPct val="250000"/>
              </a:lnSpc>
              <a:spcBef>
                <a:spcPct val="0"/>
              </a:spcBef>
              <a:spcAft>
                <a:spcPct val="0"/>
              </a:spcAft>
              <a:buClrTx/>
              <a:buSzTx/>
              <a:tabLst/>
            </a:pP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Verified all </a:t>
            </a:r>
            <a:r>
              <a:rPr kumimoji="0" lang="en-US" altLang="en-US" sz="1800" b="1"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data types</a:t>
            </a:r>
            <a:r>
              <a:rPr kumimoji="0" lang="en-US" altLang="en-US" sz="1800" b="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 </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number, dates) to make sure calculations and visuals work correctly.</a:t>
            </a:r>
          </a:p>
        </p:txBody>
      </p:sp>
      <p:sp>
        <p:nvSpPr>
          <p:cNvPr id="7" name="Title 1">
            <a:extLst>
              <a:ext uri="{FF2B5EF4-FFF2-40B4-BE49-F238E27FC236}">
                <a16:creationId xmlns:a16="http://schemas.microsoft.com/office/drawing/2014/main" id="{F6E22296-D5DC-B438-40B7-892B57F71065}"/>
              </a:ext>
            </a:extLst>
          </p:cNvPr>
          <p:cNvSpPr txBox="1">
            <a:spLocks/>
          </p:cNvSpPr>
          <p:nvPr/>
        </p:nvSpPr>
        <p:spPr>
          <a:xfrm>
            <a:off x="576327" y="282562"/>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Data Cleaning Steps</a:t>
            </a:r>
            <a:br>
              <a:rPr lang="en-US" sz="4000" b="1" dirty="0">
                <a:solidFill>
                  <a:srgbClr val="FF0000"/>
                </a:solidFill>
                <a:latin typeface="Times New Roman" panose="02020603050405020304" pitchFamily="18" charset="0"/>
                <a:cs typeface="Times New Roman" panose="02020603050405020304" pitchFamily="18" charset="0"/>
              </a:rPr>
            </a:br>
            <a:endParaRPr lang="en-US" sz="40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97704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textbox ,shape ,shape ,shape ,shape. Please refer to the notes on this slide for details">
            <a:hlinkClick r:id="rId3"/>
          </p:cNvPr>
          <p:cNvPicPr>
            <a:picLocks noChangeAspect="1"/>
          </p:cNvPicPr>
          <p:nvPr/>
        </p:nvPicPr>
        <p:blipFill>
          <a:blip r:embed="rId4"/>
          <a:stretch>
            <a:fillRect/>
          </a:stretch>
        </p:blipFill>
        <p:spPr>
          <a:xfrm>
            <a:off x="315685" y="1337389"/>
            <a:ext cx="8588829" cy="5008981"/>
          </a:xfrm>
          <a:prstGeom prst="rect">
            <a:avLst/>
          </a:prstGeom>
          <a:noFill/>
        </p:spPr>
      </p:pic>
      <p:sp>
        <p:nvSpPr>
          <p:cNvPr id="4" name="Title" hidden="1"/>
          <p:cNvSpPr>
            <a:spLocks noGrp="1"/>
          </p:cNvSpPr>
          <p:nvPr>
            <p:ph type="title"/>
          </p:nvPr>
        </p:nvSpPr>
        <p:spPr/>
        <p:txBody>
          <a:bodyPr/>
          <a:lstStyle/>
          <a:p>
            <a:r>
              <a:rPr dirty="0"/>
              <a:t>Main</a:t>
            </a:r>
          </a:p>
        </p:txBody>
      </p:sp>
      <p:sp>
        <p:nvSpPr>
          <p:cNvPr id="6" name="Title 1">
            <a:extLst>
              <a:ext uri="{FF2B5EF4-FFF2-40B4-BE49-F238E27FC236}">
                <a16:creationId xmlns:a16="http://schemas.microsoft.com/office/drawing/2014/main" id="{99D0465E-B361-CC8E-B705-59F8408AD252}"/>
              </a:ext>
            </a:extLst>
          </p:cNvPr>
          <p:cNvSpPr txBox="1">
            <a:spLocks/>
          </p:cNvSpPr>
          <p:nvPr/>
        </p:nvSpPr>
        <p:spPr>
          <a:xfrm>
            <a:off x="195943" y="342739"/>
            <a:ext cx="9727096" cy="85469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Dashboard Overview</a:t>
            </a:r>
          </a:p>
          <a:p>
            <a:r>
              <a:rPr lang="en-US" sz="1400" dirty="0">
                <a:latin typeface="Times New Roman" panose="02020603050405020304" pitchFamily="18" charset="0"/>
                <a:cs typeface="Times New Roman" panose="02020603050405020304" pitchFamily="18" charset="0"/>
              </a:rPr>
              <a:t>This dashboard is divided into four analytical sections to understand customer churn from different perspectives.</a:t>
            </a:r>
            <a:endParaRPr lang="en-US" sz="1400" b="1" dirty="0">
              <a:solidFill>
                <a:srgbClr val="FF000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FFEFA06-BCA4-1E1A-1C85-A4EA8B7F1F80}"/>
              </a:ext>
            </a:extLst>
          </p:cNvPr>
          <p:cNvSpPr txBox="1"/>
          <p:nvPr/>
        </p:nvSpPr>
        <p:spPr>
          <a:xfrm>
            <a:off x="9182100" y="770084"/>
            <a:ext cx="2903058" cy="5724644"/>
          </a:xfrm>
          <a:prstGeom prst="rect">
            <a:avLst/>
          </a:prstGeom>
          <a:noFill/>
        </p:spPr>
        <p:txBody>
          <a:bodyPr wrap="square">
            <a:spAutoFit/>
          </a:bodyPr>
          <a:lstStyle/>
          <a:p>
            <a:pPr>
              <a:buNone/>
            </a:pPr>
            <a:r>
              <a:rPr lang="en-US" b="1" dirty="0">
                <a:solidFill>
                  <a:srgbClr val="FF0000"/>
                </a:solidFill>
                <a:latin typeface="Times New Roman" panose="02020603050405020304" pitchFamily="18" charset="0"/>
                <a:cs typeface="Times New Roman" panose="02020603050405020304" pitchFamily="18" charset="0"/>
              </a:rPr>
              <a:t>Dashboard is divided into four sections:</a:t>
            </a:r>
          </a:p>
          <a:p>
            <a:pPr>
              <a:buNone/>
            </a:pPr>
            <a:endParaRPr lang="en-US" sz="800" b="1" dirty="0"/>
          </a:p>
          <a:p>
            <a:pPr marL="285750" indent="-285750">
              <a:buFont typeface="Arial" panose="020B0604020202020204" pitchFamily="34" charset="0"/>
              <a:buChar char="•"/>
            </a:pPr>
            <a:r>
              <a:rPr lang="en-US" b="1" dirty="0">
                <a:solidFill>
                  <a:schemeClr val="accent5">
                    <a:lumMod val="50000"/>
                  </a:schemeClr>
                </a:solidFill>
              </a:rPr>
              <a:t>Customer Demographics Analysis</a:t>
            </a:r>
            <a:br>
              <a:rPr lang="en-US" dirty="0"/>
            </a:br>
            <a:r>
              <a:rPr lang="en-US" dirty="0">
                <a:latin typeface="Times New Roman" panose="02020603050405020304" pitchFamily="18" charset="0"/>
                <a:cs typeface="Times New Roman" panose="02020603050405020304" pitchFamily="18" charset="0"/>
              </a:rPr>
              <a:t>Demographic factors and churn behavior.</a:t>
            </a:r>
          </a:p>
          <a:p>
            <a:pPr marL="171450" indent="-171450">
              <a:buFont typeface="Arial" panose="020B0604020202020204" pitchFamily="34" charset="0"/>
              <a:buChar char="•"/>
            </a:pPr>
            <a:endParaRPr lang="en-US" sz="800" dirty="0"/>
          </a:p>
          <a:p>
            <a:pPr marL="285750" indent="-285750">
              <a:buFont typeface="Arial" panose="020B0604020202020204" pitchFamily="34" charset="0"/>
              <a:buChar char="•"/>
            </a:pPr>
            <a:r>
              <a:rPr lang="en-US" b="1" dirty="0">
                <a:solidFill>
                  <a:schemeClr val="accent5">
                    <a:lumMod val="50000"/>
                  </a:schemeClr>
                </a:solidFill>
              </a:rPr>
              <a:t>Customer Service &amp; Subscriptions Analysis</a:t>
            </a:r>
            <a:br>
              <a:rPr lang="en-US" dirty="0"/>
            </a:br>
            <a:r>
              <a:rPr lang="en-US" dirty="0">
                <a:latin typeface="Times New Roman" panose="02020603050405020304" pitchFamily="18" charset="0"/>
                <a:cs typeface="Times New Roman" panose="02020603050405020304" pitchFamily="18" charset="0"/>
              </a:rPr>
              <a:t>Impact of service usage and add-ons on churn.</a:t>
            </a:r>
          </a:p>
          <a:p>
            <a:pPr marL="171450" indent="-171450">
              <a:buFont typeface="Arial" panose="020B0604020202020204" pitchFamily="34" charset="0"/>
              <a:buChar char="•"/>
            </a:pPr>
            <a:endParaRPr lang="en-US" sz="800" dirty="0"/>
          </a:p>
          <a:p>
            <a:pPr marL="285750" indent="-285750">
              <a:buFont typeface="Arial" panose="020B0604020202020204" pitchFamily="34" charset="0"/>
              <a:buChar char="•"/>
            </a:pPr>
            <a:r>
              <a:rPr lang="en-US" b="1" dirty="0">
                <a:solidFill>
                  <a:schemeClr val="accent5">
                    <a:lumMod val="50000"/>
                  </a:schemeClr>
                </a:solidFill>
              </a:rPr>
              <a:t>Contract &amp; Billing Insights</a:t>
            </a:r>
            <a:br>
              <a:rPr lang="en-US" dirty="0"/>
            </a:br>
            <a:r>
              <a:rPr lang="en-US" dirty="0">
                <a:latin typeface="Times New Roman" panose="02020603050405020304" pitchFamily="18" charset="0"/>
                <a:cs typeface="Times New Roman" panose="02020603050405020304" pitchFamily="18" charset="0"/>
              </a:rPr>
              <a:t>How contract types and payment methods affect churn.</a:t>
            </a:r>
          </a:p>
          <a:p>
            <a:pPr marL="171450" indent="-171450">
              <a:buFont typeface="Arial" panose="020B0604020202020204" pitchFamily="34" charset="0"/>
              <a:buChar char="•"/>
            </a:pPr>
            <a:endParaRPr lang="en-US" sz="800" dirty="0"/>
          </a:p>
          <a:p>
            <a:pPr marL="285750" indent="-285750">
              <a:buFont typeface="Arial" panose="020B0604020202020204" pitchFamily="34" charset="0"/>
              <a:buChar char="•"/>
            </a:pPr>
            <a:r>
              <a:rPr lang="en-US" b="1" dirty="0">
                <a:solidFill>
                  <a:schemeClr val="accent5">
                    <a:lumMod val="50000"/>
                  </a:schemeClr>
                </a:solidFill>
              </a:rPr>
              <a:t>Churn Prediction &amp; Key Drivers</a:t>
            </a:r>
            <a:br>
              <a:rPr lang="en-US" dirty="0"/>
            </a:br>
            <a:r>
              <a:rPr lang="en-US" dirty="0">
                <a:latin typeface="Times New Roman" panose="02020603050405020304" pitchFamily="18" charset="0"/>
                <a:cs typeface="Times New Roman" panose="02020603050405020304" pitchFamily="18" charset="0"/>
              </a:rPr>
              <a:t>Major churn drivers and business impact.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Average Monthly Charges vs Tenure (by Gender) ,Avg Monthly Charges by Tenure Group ,Total Customers ,Churned Customers ,Churned Rate ,Average Monthly Charges ,Average Tenure ,actionButton ,actionButton ,Senior Citizen — Churn vs Not ,Customer Gender Distribution ,Gender ,Contract Type ,textbox ,shape ,Churn Rate by Tenure Group ,Customers by Tenure Group. Please refer to the notes on this slide for details">
            <a:hlinkClick r:id="rId3"/>
          </p:cNvPr>
          <p:cNvPicPr>
            <a:picLocks noChangeAspect="1"/>
          </p:cNvPicPr>
          <p:nvPr/>
        </p:nvPicPr>
        <p:blipFill>
          <a:blip r:embed="rId4"/>
          <a:stretch>
            <a:fillRect/>
          </a:stretch>
        </p:blipFill>
        <p:spPr>
          <a:xfrm>
            <a:off x="1017814" y="31296"/>
            <a:ext cx="10156371" cy="6848475"/>
          </a:xfrm>
          <a:prstGeom prst="rect">
            <a:avLst/>
          </a:prstGeom>
          <a:noFill/>
        </p:spPr>
      </p:pic>
      <p:sp>
        <p:nvSpPr>
          <p:cNvPr id="4" name="Title" hidden="1"/>
          <p:cNvSpPr>
            <a:spLocks noGrp="1"/>
          </p:cNvSpPr>
          <p:nvPr>
            <p:ph type="title"/>
          </p:nvPr>
        </p:nvSpPr>
        <p:spPr/>
        <p:txBody>
          <a:bodyPr/>
          <a:lstStyle/>
          <a:p>
            <a:r>
              <a:rPr dirty="0"/>
              <a:t>Demographics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F561CF-76E7-43FB-6641-8B9F79291008}"/>
              </a:ext>
            </a:extLst>
          </p:cNvPr>
          <p:cNvSpPr txBox="1"/>
          <p:nvPr/>
        </p:nvSpPr>
        <p:spPr>
          <a:xfrm>
            <a:off x="274256" y="954724"/>
            <a:ext cx="10992963" cy="4439933"/>
          </a:xfrm>
          <a:prstGeom prst="rect">
            <a:avLst/>
          </a:prstGeom>
          <a:noFill/>
        </p:spPr>
        <p:txBody>
          <a:bodyPr wrap="square">
            <a:spAutoFit/>
          </a:bodyPr>
          <a:lstStyle/>
          <a:p>
            <a:pPr marL="342900" indent="-342900" algn="just">
              <a:lnSpc>
                <a:spcPct val="200000"/>
              </a:lnSpc>
              <a:buFont typeface="Wingdings" panose="05000000000000000000" pitchFamily="2" charset="2"/>
              <a:buChar char="Ø"/>
            </a:pPr>
            <a:r>
              <a:rPr lang="en-US" b="1" dirty="0">
                <a:solidFill>
                  <a:schemeClr val="accent5">
                    <a:lumMod val="50000"/>
                  </a:schemeClr>
                </a:solidFill>
                <a:latin typeface="Times New Roman" panose="02020603050405020304" pitchFamily="18" charset="0"/>
                <a:cs typeface="Times New Roman" panose="02020603050405020304" pitchFamily="18" charset="0"/>
              </a:rPr>
              <a:t>Male and female customers are almost equal in count</a:t>
            </a:r>
            <a:r>
              <a:rPr lang="en-US" dirty="0">
                <a:latin typeface="Times New Roman" panose="02020603050405020304" pitchFamily="18" charset="0"/>
                <a:cs typeface="Times New Roman" panose="02020603050405020304" pitchFamily="18" charset="0"/>
              </a:rPr>
              <a:t>, so gender does not bias the dataset.</a:t>
            </a:r>
          </a:p>
          <a:p>
            <a:pPr marL="342900" indent="-342900" algn="just">
              <a:lnSpc>
                <a:spcPct val="200000"/>
              </a:lnSpc>
              <a:buFont typeface="Wingdings" panose="05000000000000000000" pitchFamily="2" charset="2"/>
              <a:buChar char="Ø"/>
            </a:pPr>
            <a:r>
              <a:rPr lang="en-US" b="1" dirty="0">
                <a:solidFill>
                  <a:schemeClr val="accent5">
                    <a:lumMod val="50000"/>
                  </a:schemeClr>
                </a:solidFill>
                <a:latin typeface="Times New Roman" panose="02020603050405020304" pitchFamily="18" charset="0"/>
                <a:cs typeface="Times New Roman" panose="02020603050405020304" pitchFamily="18" charset="0"/>
              </a:rPr>
              <a:t>Senior citizens churn more</a:t>
            </a:r>
            <a:r>
              <a:rPr lang="en-US" dirty="0">
                <a:solidFill>
                  <a:schemeClr val="accent5">
                    <a:lumMod val="50000"/>
                  </a:schemeClr>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than non-senior customers, showing they are a vulnerable segment.</a:t>
            </a:r>
          </a:p>
          <a:p>
            <a:pPr marL="342900" indent="-342900" algn="just">
              <a:lnSpc>
                <a:spcPct val="200000"/>
              </a:lnSpc>
              <a:buFont typeface="Wingdings" panose="05000000000000000000" pitchFamily="2" charset="2"/>
              <a:buChar char="Ø"/>
            </a:pPr>
            <a:r>
              <a:rPr lang="en-US" b="1" dirty="0">
                <a:solidFill>
                  <a:schemeClr val="accent5">
                    <a:lumMod val="50000"/>
                  </a:schemeClr>
                </a:solidFill>
                <a:latin typeface="Times New Roman" panose="02020603050405020304" pitchFamily="18" charset="0"/>
                <a:cs typeface="Times New Roman" panose="02020603050405020304" pitchFamily="18" charset="0"/>
              </a:rPr>
              <a:t>Most customers fall in lower-tenure groups (0–12 months)</a:t>
            </a:r>
            <a:r>
              <a:rPr lang="en-US" dirty="0">
                <a:solidFill>
                  <a:schemeClr val="accent5">
                    <a:lumMod val="50000"/>
                  </a:schemeClr>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this group also has the highest churn rate.</a:t>
            </a:r>
          </a:p>
          <a:p>
            <a:pPr marL="342900" indent="-342900" algn="just">
              <a:lnSpc>
                <a:spcPct val="200000"/>
              </a:lnSpc>
              <a:buFont typeface="Wingdings" panose="05000000000000000000" pitchFamily="2" charset="2"/>
              <a:buChar char="Ø"/>
            </a:pPr>
            <a:r>
              <a:rPr lang="en-US" b="1" dirty="0">
                <a:solidFill>
                  <a:schemeClr val="accent5">
                    <a:lumMod val="50000"/>
                  </a:schemeClr>
                </a:solidFill>
                <a:latin typeface="Times New Roman" panose="02020603050405020304" pitchFamily="18" charset="0"/>
                <a:cs typeface="Times New Roman" panose="02020603050405020304" pitchFamily="18" charset="0"/>
              </a:rPr>
              <a:t>Churn rate steadily decreases as tenure increases</a:t>
            </a:r>
            <a:r>
              <a:rPr lang="en-US" dirty="0">
                <a:latin typeface="Times New Roman" panose="02020603050405020304" pitchFamily="18" charset="0"/>
                <a:cs typeface="Times New Roman" panose="02020603050405020304" pitchFamily="18" charset="0"/>
              </a:rPr>
              <a:t>, meaning customers who stay longer are less likely to leave.</a:t>
            </a:r>
          </a:p>
          <a:p>
            <a:pPr marL="342900" indent="-342900" algn="just">
              <a:lnSpc>
                <a:spcPct val="200000"/>
              </a:lnSpc>
              <a:buFont typeface="Wingdings" panose="05000000000000000000" pitchFamily="2" charset="2"/>
              <a:buChar char="Ø"/>
            </a:pPr>
            <a:r>
              <a:rPr lang="en-US" b="1" dirty="0">
                <a:solidFill>
                  <a:schemeClr val="accent5">
                    <a:lumMod val="50000"/>
                  </a:schemeClr>
                </a:solidFill>
                <a:latin typeface="Times New Roman" panose="02020603050405020304" pitchFamily="18" charset="0"/>
                <a:cs typeface="Times New Roman" panose="02020603050405020304" pitchFamily="18" charset="0"/>
              </a:rPr>
              <a:t>Average monthly charges decline with higher tenure</a:t>
            </a:r>
            <a:r>
              <a:rPr lang="en-US" dirty="0">
                <a:latin typeface="Times New Roman" panose="02020603050405020304" pitchFamily="18" charset="0"/>
                <a:cs typeface="Times New Roman" panose="02020603050405020304" pitchFamily="18" charset="0"/>
              </a:rPr>
              <a:t>, indicating long-term customers often receive better pricing or discounts.</a:t>
            </a:r>
          </a:p>
          <a:p>
            <a:pPr marL="342900" indent="-342900" algn="just">
              <a:lnSpc>
                <a:spcPct val="200000"/>
              </a:lnSpc>
              <a:buFont typeface="Wingdings" panose="05000000000000000000" pitchFamily="2" charset="2"/>
              <a:buChar char="Ø"/>
            </a:pPr>
            <a:r>
              <a:rPr lang="en-US" b="1" dirty="0">
                <a:solidFill>
                  <a:schemeClr val="accent5">
                    <a:lumMod val="50000"/>
                  </a:schemeClr>
                </a:solidFill>
                <a:latin typeface="Times New Roman" panose="02020603050405020304" pitchFamily="18" charset="0"/>
                <a:cs typeface="Times New Roman" panose="02020603050405020304" pitchFamily="18" charset="0"/>
              </a:rPr>
              <a:t>Monthly charges vs tenure (by gender)</a:t>
            </a:r>
            <a:r>
              <a:rPr lang="en-US" dirty="0">
                <a:latin typeface="Times New Roman" panose="02020603050405020304" pitchFamily="18" charset="0"/>
                <a:cs typeface="Times New Roman" panose="02020603050405020304" pitchFamily="18" charset="0"/>
              </a:rPr>
              <a:t> shows </a:t>
            </a:r>
            <a:r>
              <a:rPr lang="en-US" b="1" dirty="0">
                <a:solidFill>
                  <a:schemeClr val="accent5">
                    <a:lumMod val="50000"/>
                  </a:schemeClr>
                </a:solidFill>
                <a:latin typeface="Times New Roman" panose="02020603050405020304" pitchFamily="18" charset="0"/>
                <a:cs typeface="Times New Roman" panose="02020603050405020304" pitchFamily="18" charset="0"/>
              </a:rPr>
              <a:t>both genders follow the same pattern</a:t>
            </a:r>
            <a:r>
              <a:rPr lang="en-US" dirty="0">
                <a:latin typeface="Times New Roman" panose="02020603050405020304" pitchFamily="18" charset="0"/>
                <a:cs typeface="Times New Roman" panose="02020603050405020304" pitchFamily="18" charset="0"/>
              </a:rPr>
              <a:t>, so gender does not influence spending behavior.</a:t>
            </a:r>
          </a:p>
        </p:txBody>
      </p:sp>
      <p:sp>
        <p:nvSpPr>
          <p:cNvPr id="5" name="Title 1">
            <a:extLst>
              <a:ext uri="{FF2B5EF4-FFF2-40B4-BE49-F238E27FC236}">
                <a16:creationId xmlns:a16="http://schemas.microsoft.com/office/drawing/2014/main" id="{E99372A5-B9FD-4E41-EBD5-53A9C7350E70}"/>
              </a:ext>
            </a:extLst>
          </p:cNvPr>
          <p:cNvSpPr txBox="1">
            <a:spLocks/>
          </p:cNvSpPr>
          <p:nvPr/>
        </p:nvSpPr>
        <p:spPr>
          <a:xfrm>
            <a:off x="894237" y="259643"/>
            <a:ext cx="9727096" cy="74506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200000"/>
              </a:lnSpc>
            </a:pPr>
            <a:endParaRPr lang="en-US" sz="4000" b="1" dirty="0">
              <a:solidFill>
                <a:srgbClr val="FF0000"/>
              </a:solidFill>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AA6817D6-D54C-9C03-067B-38B5C5B431E3}"/>
              </a:ext>
            </a:extLst>
          </p:cNvPr>
          <p:cNvSpPr txBox="1">
            <a:spLocks/>
          </p:cNvSpPr>
          <p:nvPr/>
        </p:nvSpPr>
        <p:spPr>
          <a:xfrm>
            <a:off x="274256" y="258029"/>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Key Insights:</a:t>
            </a:r>
            <a:br>
              <a:rPr lang="en-US" sz="4000" b="1" dirty="0">
                <a:solidFill>
                  <a:srgbClr val="FF0000"/>
                </a:solidFill>
                <a:latin typeface="Times New Roman" panose="02020603050405020304" pitchFamily="18" charset="0"/>
                <a:cs typeface="Times New Roman" panose="02020603050405020304" pitchFamily="18" charset="0"/>
              </a:rPr>
            </a:br>
            <a:endParaRPr lang="en-US" sz="4000" b="1" dirty="0">
              <a:solidFill>
                <a:srgbClr val="FF0000"/>
              </a:solidFill>
              <a:latin typeface="Times New Roman" panose="02020603050405020304" pitchFamily="18" charset="0"/>
              <a:cs typeface="Times New Roman" panose="02020603050405020304" pitchFamily="18" charset="0"/>
            </a:endParaRPr>
          </a:p>
        </p:txBody>
      </p:sp>
      <p:pic>
        <p:nvPicPr>
          <p:cNvPr id="9" name="Picture 8" descr="A close up of a logo&#10;&#10;AI-generated content may be incorrect.">
            <a:extLst>
              <a:ext uri="{FF2B5EF4-FFF2-40B4-BE49-F238E27FC236}">
                <a16:creationId xmlns:a16="http://schemas.microsoft.com/office/drawing/2014/main" id="{81980C8A-3368-5281-E796-9D27ECA39C79}"/>
              </a:ext>
            </a:extLst>
          </p:cNvPr>
          <p:cNvPicPr>
            <a:picLocks noChangeAspect="1"/>
          </p:cNvPicPr>
          <p:nvPr/>
        </p:nvPicPr>
        <p:blipFill>
          <a:blip r:embed="rId3">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Tree>
    <p:extLst>
      <p:ext uri="{BB962C8B-B14F-4D97-AF65-F5344CB8AC3E}">
        <p14:creationId xmlns:p14="http://schemas.microsoft.com/office/powerpoint/2010/main" val="26939929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Phone Service Usage ,Internet Service &amp; Churn Rate ,Add-on Services (Churned Customers) ,Churn Rate by Number of Subscribed Services ,Top Service Combinations &amp; Churn ,Internet Service: Customers &amp; Churn Rate ,Churned Rate ,Churned Customers ,Contract Type ,Internet Service ,Gender ,Senior Citizen ,actionButton ,actionButton ,textbox. Please refer to the notes on this slide for details">
            <a:hlinkClick r:id="rId3"/>
          </p:cNvPr>
          <p:cNvPicPr>
            <a:picLocks noChangeAspect="1"/>
          </p:cNvPicPr>
          <p:nvPr/>
        </p:nvPicPr>
        <p:blipFill>
          <a:blip r:embed="rId4"/>
          <a:stretch>
            <a:fillRect/>
          </a:stretch>
        </p:blipFill>
        <p:spPr>
          <a:xfrm>
            <a:off x="936171" y="9525"/>
            <a:ext cx="10319658" cy="6848475"/>
          </a:xfrm>
          <a:prstGeom prst="rect">
            <a:avLst/>
          </a:prstGeom>
          <a:noFill/>
        </p:spPr>
      </p:pic>
      <p:sp>
        <p:nvSpPr>
          <p:cNvPr id="4" name="Title" hidden="1"/>
          <p:cNvSpPr>
            <a:spLocks noGrp="1"/>
          </p:cNvSpPr>
          <p:nvPr>
            <p:ph type="title"/>
          </p:nvPr>
        </p:nvSpPr>
        <p:spPr/>
        <p:txBody>
          <a:bodyPr/>
          <a:lstStyle/>
          <a:p>
            <a:r>
              <a:rPr dirty="0"/>
              <a:t>Services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564109-EE2A-57E4-77B8-30A815B07224}"/>
              </a:ext>
            </a:extLst>
          </p:cNvPr>
          <p:cNvSpPr txBox="1"/>
          <p:nvPr/>
        </p:nvSpPr>
        <p:spPr>
          <a:xfrm>
            <a:off x="261257" y="1035824"/>
            <a:ext cx="12072211" cy="3885936"/>
          </a:xfrm>
          <a:prstGeom prst="rect">
            <a:avLst/>
          </a:prstGeom>
          <a:noFill/>
        </p:spPr>
        <p:txBody>
          <a:bodyPr wrap="square">
            <a:spAutoFit/>
          </a:bodyPr>
          <a:lstStyle/>
          <a:p>
            <a:pPr marL="342900" indent="-342900">
              <a:lnSpc>
                <a:spcPct val="200000"/>
              </a:lnSpc>
              <a:buFont typeface="Wingdings" panose="05000000000000000000" pitchFamily="2" charset="2"/>
              <a:buChar char="Ø"/>
            </a:pPr>
            <a:r>
              <a:rPr lang="en-US" b="1" dirty="0">
                <a:solidFill>
                  <a:srgbClr val="002060"/>
                </a:solidFill>
                <a:latin typeface="Times New Roman" panose="02020603050405020304" pitchFamily="18" charset="0"/>
                <a:cs typeface="Times New Roman" panose="02020603050405020304" pitchFamily="18" charset="0"/>
              </a:rPr>
              <a:t>Most customers use phone service</a:t>
            </a:r>
            <a:r>
              <a:rPr lang="en-US" dirty="0">
                <a:latin typeface="Times New Roman" panose="02020603050405020304" pitchFamily="18" charset="0"/>
                <a:cs typeface="Times New Roman" panose="02020603050405020304" pitchFamily="18" charset="0"/>
              </a:rPr>
              <a:t>, but phone service itself has little influence on churn.</a:t>
            </a:r>
          </a:p>
          <a:p>
            <a:pPr marL="342900" indent="-342900">
              <a:lnSpc>
                <a:spcPct val="200000"/>
              </a:lnSpc>
              <a:buFont typeface="Wingdings" panose="05000000000000000000" pitchFamily="2" charset="2"/>
              <a:buChar char="Ø"/>
            </a:pPr>
            <a:r>
              <a:rPr lang="en-US" b="1" dirty="0">
                <a:solidFill>
                  <a:srgbClr val="002060"/>
                </a:solidFill>
                <a:latin typeface="Times New Roman" panose="02020603050405020304" pitchFamily="18" charset="0"/>
                <a:cs typeface="Times New Roman" panose="02020603050405020304" pitchFamily="18" charset="0"/>
              </a:rPr>
              <a:t>Fiber optic users churn the most</a:t>
            </a:r>
            <a:r>
              <a:rPr lang="en-US" dirty="0">
                <a:latin typeface="Times New Roman" panose="02020603050405020304" pitchFamily="18" charset="0"/>
                <a:cs typeface="Times New Roman" panose="02020603050405020304" pitchFamily="18" charset="0"/>
              </a:rPr>
              <a:t>, while DSL and no-internet customers churn less.</a:t>
            </a:r>
          </a:p>
          <a:p>
            <a:pPr marL="342900" indent="-342900">
              <a:lnSpc>
                <a:spcPct val="200000"/>
              </a:lnSpc>
              <a:buFont typeface="Wingdings" panose="05000000000000000000" pitchFamily="2" charset="2"/>
              <a:buChar char="Ø"/>
            </a:pPr>
            <a:r>
              <a:rPr lang="en-US" b="1" dirty="0">
                <a:solidFill>
                  <a:srgbClr val="002060"/>
                </a:solidFill>
                <a:latin typeface="Times New Roman" panose="02020603050405020304" pitchFamily="18" charset="0"/>
                <a:cs typeface="Times New Roman" panose="02020603050405020304" pitchFamily="18" charset="0"/>
              </a:rPr>
              <a:t>Churn is higher for customers using multiple add-on services</a:t>
            </a:r>
            <a:r>
              <a:rPr lang="en-US" dirty="0">
                <a:latin typeface="Times New Roman" panose="02020603050405020304" pitchFamily="18" charset="0"/>
                <a:cs typeface="Times New Roman" panose="02020603050405020304" pitchFamily="18" charset="0"/>
              </a:rPr>
              <a:t>, especially security and cloud-related services.</a:t>
            </a:r>
          </a:p>
          <a:p>
            <a:pPr marL="342900" indent="-342900">
              <a:lnSpc>
                <a:spcPct val="200000"/>
              </a:lnSpc>
              <a:buFont typeface="Wingdings" panose="05000000000000000000" pitchFamily="2" charset="2"/>
              <a:buChar char="Ø"/>
            </a:pPr>
            <a:r>
              <a:rPr lang="en-US" b="1" dirty="0">
                <a:solidFill>
                  <a:srgbClr val="002060"/>
                </a:solidFill>
                <a:latin typeface="Times New Roman" panose="02020603050405020304" pitchFamily="18" charset="0"/>
                <a:cs typeface="Times New Roman" panose="02020603050405020304" pitchFamily="18" charset="0"/>
              </a:rPr>
              <a:t>Churn increases as the number of subscribed services increases</a:t>
            </a:r>
            <a:r>
              <a:rPr lang="en-US" dirty="0">
                <a:latin typeface="Times New Roman" panose="02020603050405020304" pitchFamily="18" charset="0"/>
                <a:cs typeface="Times New Roman" panose="02020603050405020304" pitchFamily="18" charset="0"/>
              </a:rPr>
              <a:t>, indicating service complexity or cost may cause dissatisfaction.</a:t>
            </a:r>
          </a:p>
          <a:p>
            <a:pPr marL="342900" indent="-342900">
              <a:lnSpc>
                <a:spcPct val="200000"/>
              </a:lnSpc>
              <a:buFont typeface="Wingdings" panose="05000000000000000000" pitchFamily="2" charset="2"/>
              <a:buChar char="Ø"/>
            </a:pPr>
            <a:r>
              <a:rPr lang="en-US" b="1" dirty="0">
                <a:solidFill>
                  <a:srgbClr val="002060"/>
                </a:solidFill>
                <a:latin typeface="Times New Roman" panose="02020603050405020304" pitchFamily="18" charset="0"/>
                <a:cs typeface="Times New Roman" panose="02020603050405020304" pitchFamily="18" charset="0"/>
              </a:rPr>
              <a:t>The most common churn combinations</a:t>
            </a:r>
            <a:r>
              <a:rPr lang="en-US" dirty="0">
                <a:solidFill>
                  <a:srgbClr val="00206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include: Fiber optic + Security add-ons and Multiple add-ons.</a:t>
            </a:r>
          </a:p>
          <a:p>
            <a:pPr marL="342900" indent="-342900">
              <a:lnSpc>
                <a:spcPct val="200000"/>
              </a:lnSpc>
              <a:buFont typeface="Wingdings" panose="05000000000000000000" pitchFamily="2" charset="2"/>
              <a:buChar char="Ø"/>
            </a:pPr>
            <a:r>
              <a:rPr lang="en-US" b="1" dirty="0">
                <a:solidFill>
                  <a:srgbClr val="002060"/>
                </a:solidFill>
                <a:latin typeface="Times New Roman" panose="02020603050405020304" pitchFamily="18" charset="0"/>
                <a:cs typeface="Times New Roman" panose="02020603050405020304" pitchFamily="18" charset="0"/>
              </a:rPr>
              <a:t>Fiber optic has the highest customer count and highest churn count</a:t>
            </a:r>
            <a:r>
              <a:rPr lang="en-US" dirty="0">
                <a:latin typeface="Times New Roman" panose="02020603050405020304" pitchFamily="18" charset="0"/>
                <a:cs typeface="Times New Roman" panose="02020603050405020304" pitchFamily="18" charset="0"/>
              </a:rPr>
              <a:t>, making it the most critical service to improve.</a:t>
            </a:r>
          </a:p>
        </p:txBody>
      </p:sp>
      <p:sp>
        <p:nvSpPr>
          <p:cNvPr id="4" name="Title 1">
            <a:extLst>
              <a:ext uri="{FF2B5EF4-FFF2-40B4-BE49-F238E27FC236}">
                <a16:creationId xmlns:a16="http://schemas.microsoft.com/office/drawing/2014/main" id="{EBE8AFB5-18DC-5E98-B077-4ED4B09A1767}"/>
              </a:ext>
            </a:extLst>
          </p:cNvPr>
          <p:cNvSpPr txBox="1">
            <a:spLocks/>
          </p:cNvSpPr>
          <p:nvPr/>
        </p:nvSpPr>
        <p:spPr>
          <a:xfrm>
            <a:off x="261257" y="375259"/>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Key Insights:</a:t>
            </a:r>
            <a:br>
              <a:rPr lang="en-US" sz="4000" b="1" dirty="0">
                <a:solidFill>
                  <a:srgbClr val="FF0000"/>
                </a:solidFill>
                <a:latin typeface="Times New Roman" panose="02020603050405020304" pitchFamily="18" charset="0"/>
                <a:cs typeface="Times New Roman" panose="02020603050405020304" pitchFamily="18" charset="0"/>
              </a:rPr>
            </a:br>
            <a:endParaRPr lang="en-US" sz="4000" b="1" dirty="0">
              <a:solidFill>
                <a:srgbClr val="FF0000"/>
              </a:solidFill>
              <a:latin typeface="Times New Roman" panose="02020603050405020304" pitchFamily="18" charset="0"/>
              <a:cs typeface="Times New Roman" panose="02020603050405020304" pitchFamily="18" charset="0"/>
            </a:endParaRPr>
          </a:p>
        </p:txBody>
      </p:sp>
      <p:pic>
        <p:nvPicPr>
          <p:cNvPr id="5" name="Picture 4" descr="A close up of a logo&#10;&#10;AI-generated content may be incorrect.">
            <a:extLst>
              <a:ext uri="{FF2B5EF4-FFF2-40B4-BE49-F238E27FC236}">
                <a16:creationId xmlns:a16="http://schemas.microsoft.com/office/drawing/2014/main" id="{6D54FF33-1C69-C549-A6FA-56833C4A62C8}"/>
              </a:ext>
            </a:extLst>
          </p:cNvPr>
          <p:cNvPicPr>
            <a:picLocks noChangeAspect="1"/>
          </p:cNvPicPr>
          <p:nvPr/>
        </p:nvPicPr>
        <p:blipFill>
          <a:blip r:embed="rId4">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Tree>
    <p:extLst>
      <p:ext uri="{BB962C8B-B14F-4D97-AF65-F5344CB8AC3E}">
        <p14:creationId xmlns:p14="http://schemas.microsoft.com/office/powerpoint/2010/main" val="40734141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title="This slide contains the following visuals: Churn Rate by Contract Type ,Churn by Payment Method ,Avg Total Charges by Contract Type ,Avg Monthly Charges by Payment Method ,Churn Rate: Paperless vs Non-Paperless ,Tenure Distribution by Contract Type ,Churn Rate ,Average Monthly Charges ,Average Total Charges ,Total Churned Customers ,Contract Type ,Payment Method ,actionButton ,actionButton ,textbox. Please refer to the notes on this slide for details">
            <a:hlinkClick r:id="rId4"/>
          </p:cNvPr>
          <p:cNvPicPr>
            <a:picLocks noChangeAspect="1"/>
          </p:cNvPicPr>
          <p:nvPr/>
        </p:nvPicPr>
        <p:blipFill>
          <a:blip r:embed="rId5"/>
          <a:stretch>
            <a:fillRect/>
          </a:stretch>
        </p:blipFill>
        <p:spPr>
          <a:xfrm>
            <a:off x="839788" y="9525"/>
            <a:ext cx="10503126" cy="6848475"/>
          </a:xfrm>
          <a:prstGeom prst="rect">
            <a:avLst/>
          </a:prstGeom>
          <a:noFill/>
        </p:spPr>
      </p:pic>
      <p:sp>
        <p:nvSpPr>
          <p:cNvPr id="4" name="Title" hidden="1"/>
          <p:cNvSpPr>
            <a:spLocks noGrp="1"/>
          </p:cNvSpPr>
          <p:nvPr>
            <p:ph type="title"/>
          </p:nvPr>
        </p:nvSpPr>
        <p:spPr/>
        <p:txBody>
          <a:bodyPr/>
          <a:lstStyle/>
          <a:p>
            <a:r>
              <a:rPr dirty="0"/>
              <a:t>Contract &amp; Biling</a:t>
            </a: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E2A2A-A941-8616-554F-BF42F8480AA6}"/>
              </a:ext>
            </a:extLst>
          </p:cNvPr>
          <p:cNvSpPr txBox="1">
            <a:spLocks/>
          </p:cNvSpPr>
          <p:nvPr/>
        </p:nvSpPr>
        <p:spPr>
          <a:xfrm>
            <a:off x="381000" y="376940"/>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Key Insights:</a:t>
            </a:r>
            <a:br>
              <a:rPr lang="en-US" sz="4000" b="1" dirty="0">
                <a:solidFill>
                  <a:srgbClr val="FF0000"/>
                </a:solidFill>
                <a:latin typeface="Times New Roman" panose="02020603050405020304" pitchFamily="18" charset="0"/>
                <a:cs typeface="Times New Roman" panose="02020603050405020304" pitchFamily="18" charset="0"/>
              </a:rPr>
            </a:br>
            <a:endParaRPr lang="en-US" sz="4000" b="1"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6363F16-D65E-72E3-A810-6128200B3F10}"/>
              </a:ext>
            </a:extLst>
          </p:cNvPr>
          <p:cNvSpPr txBox="1"/>
          <p:nvPr/>
        </p:nvSpPr>
        <p:spPr>
          <a:xfrm>
            <a:off x="381000" y="1037505"/>
            <a:ext cx="11669486" cy="4439933"/>
          </a:xfrm>
          <a:prstGeom prst="rect">
            <a:avLst/>
          </a:prstGeom>
          <a:noFill/>
        </p:spPr>
        <p:txBody>
          <a:bodyPr wrap="square">
            <a:spAutoFit/>
          </a:bodyPr>
          <a:lstStyle/>
          <a:p>
            <a:pPr marL="342900" marR="0" lvl="0" indent="-342900" algn="just"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Month-to-month customers churn the most</a:t>
            </a:r>
            <a:r>
              <a:rPr kumimoji="0" lang="en-US" altLang="en-US"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while </a:t>
            </a:r>
            <a:r>
              <a:rPr kumimoji="0" lang="en-US" altLang="en-US" b="1"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one-year and two-year contracts churn significantly less</a:t>
            </a:r>
            <a:r>
              <a:rPr kumimoji="0" lang="en-US" altLang="en-US"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a:t>
            </a:r>
          </a:p>
          <a:p>
            <a:pPr marL="342900" marR="0" lvl="0" indent="-342900" algn="just"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Electronic check users have the highest churn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making it the riskiest payment method.</a:t>
            </a:r>
          </a:p>
          <a:p>
            <a:pPr marL="342900" marR="0" lvl="0" indent="-342900" algn="just"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Total charges are highest for two-year contract customers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meaning long-term customers generate the most revenue.</a:t>
            </a:r>
          </a:p>
          <a:p>
            <a:pPr marL="342900" marR="0" lvl="0" indent="-342900" algn="just"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Monthly charges vary across payment methods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but churn is mostly driven by contract type and payment type.</a:t>
            </a:r>
          </a:p>
          <a:p>
            <a:pPr marL="342900" marR="0" lvl="0" indent="-342900" algn="just"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Paperless billing users churn more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indicating communication or billing experience issues.</a:t>
            </a:r>
          </a:p>
          <a:p>
            <a:pPr marL="342900" marR="0" lvl="0" indent="-342900" algn="just"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Tenure distribution by contract type</a:t>
            </a:r>
            <a:r>
              <a:rPr kumimoji="0" lang="en-US" altLang="en-US" b="0"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shows month-to-month has many short-tenure customers, explaining high churn.</a:t>
            </a:r>
          </a:p>
          <a:p>
            <a:pPr marL="342900" marR="0" lvl="0" indent="-342900" algn="just"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Key billing metrics (avg monthly charges, total charges, churn rate)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combined confirm that </a:t>
            </a:r>
            <a:r>
              <a:rPr kumimoji="0" lang="en-US" altLang="en-US" b="1"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contract length is the strongest billing factor influencing churn</a:t>
            </a:r>
            <a:r>
              <a:rPr kumimoji="0" lang="en-US" altLang="en-US" b="0"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a:t>
            </a:r>
          </a:p>
        </p:txBody>
      </p:sp>
      <p:pic>
        <p:nvPicPr>
          <p:cNvPr id="6" name="Picture 5" descr="A close up of a logo&#10;&#10;AI-generated content may be incorrect.">
            <a:extLst>
              <a:ext uri="{FF2B5EF4-FFF2-40B4-BE49-F238E27FC236}">
                <a16:creationId xmlns:a16="http://schemas.microsoft.com/office/drawing/2014/main" id="{8FBF7F26-0B18-4E1B-DC34-C4292AC7857F}"/>
              </a:ext>
            </a:extLst>
          </p:cNvPr>
          <p:cNvPicPr>
            <a:picLocks noChangeAspect="1"/>
          </p:cNvPicPr>
          <p:nvPr/>
        </p:nvPicPr>
        <p:blipFill>
          <a:blip r:embed="rId3">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Tree>
    <p:extLst>
      <p:ext uri="{BB962C8B-B14F-4D97-AF65-F5344CB8AC3E}">
        <p14:creationId xmlns:p14="http://schemas.microsoft.com/office/powerpoint/2010/main" val="34615811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Churn Rate by Contract Type ,Churn Rate by Tenure Group ,Overall Churn Rate ,actionButton ,actionButton ,Churn Rate by Paperless Billing ,Churn Rate by Payment Method ,Churn Rate by Interet Service Type ,Churn Concentration Across Multiple Segments ,Revenue Contribution: Retained vs Churned Customers ,textbox. Please refer to the notes on this slide for details">
            <a:hlinkClick r:id="rId3"/>
          </p:cNvPr>
          <p:cNvPicPr>
            <a:picLocks noChangeAspect="1"/>
          </p:cNvPicPr>
          <p:nvPr/>
        </p:nvPicPr>
        <p:blipFill>
          <a:blip r:embed="rId4"/>
          <a:stretch>
            <a:fillRect/>
          </a:stretch>
        </p:blipFill>
        <p:spPr>
          <a:xfrm>
            <a:off x="925287" y="0"/>
            <a:ext cx="10395856" cy="6858000"/>
          </a:xfrm>
          <a:prstGeom prst="rect">
            <a:avLst/>
          </a:prstGeom>
          <a:noFill/>
        </p:spPr>
      </p:pic>
      <p:sp>
        <p:nvSpPr>
          <p:cNvPr id="4" name="Title" hidden="1"/>
          <p:cNvSpPr>
            <a:spLocks noGrp="1"/>
          </p:cNvSpPr>
          <p:nvPr>
            <p:ph type="title"/>
          </p:nvPr>
        </p:nvSpPr>
        <p:spPr/>
        <p:txBody>
          <a:bodyPr/>
          <a:lstStyle/>
          <a:p>
            <a:r>
              <a:t>Key drivers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21E9B-266A-6679-3AF1-38DC329015DB}"/>
              </a:ext>
            </a:extLst>
          </p:cNvPr>
          <p:cNvSpPr txBox="1">
            <a:spLocks/>
          </p:cNvSpPr>
          <p:nvPr/>
        </p:nvSpPr>
        <p:spPr>
          <a:xfrm>
            <a:off x="555171" y="190201"/>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Key Insights:</a:t>
            </a:r>
            <a:br>
              <a:rPr lang="en-US" sz="4000" b="1" dirty="0">
                <a:solidFill>
                  <a:srgbClr val="FF0000"/>
                </a:solidFill>
                <a:latin typeface="Times New Roman" panose="02020603050405020304" pitchFamily="18" charset="0"/>
                <a:cs typeface="Times New Roman" panose="02020603050405020304" pitchFamily="18" charset="0"/>
              </a:rPr>
            </a:br>
            <a:endParaRPr lang="en-US" sz="4000" b="1"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0A7BA1A-512B-6ADA-BF71-2CB543EB3DDF}"/>
              </a:ext>
            </a:extLst>
          </p:cNvPr>
          <p:cNvSpPr txBox="1"/>
          <p:nvPr/>
        </p:nvSpPr>
        <p:spPr>
          <a:xfrm>
            <a:off x="555171" y="850766"/>
            <a:ext cx="11299372" cy="5582554"/>
          </a:xfrm>
          <a:prstGeom prst="rect">
            <a:avLst/>
          </a:prstGeom>
          <a:noFill/>
        </p:spPr>
        <p:txBody>
          <a:bodyPr wrap="square">
            <a:spAutoFit/>
          </a:bodyPr>
          <a:lstStyle/>
          <a:p>
            <a:pPr marL="285750" indent="-285750" algn="just">
              <a:lnSpc>
                <a:spcPct val="150000"/>
              </a:lnSpc>
              <a:buClr>
                <a:schemeClr val="accent5">
                  <a:lumMod val="50000"/>
                </a:schemeClr>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overall churn rate is </a:t>
            </a:r>
            <a:r>
              <a:rPr lang="en-US" b="1" dirty="0">
                <a:solidFill>
                  <a:schemeClr val="accent5">
                    <a:lumMod val="50000"/>
                  </a:schemeClr>
                </a:solidFill>
                <a:latin typeface="Times New Roman" panose="02020603050405020304" pitchFamily="18" charset="0"/>
                <a:cs typeface="Times New Roman" panose="02020603050405020304" pitchFamily="18" charset="0"/>
              </a:rPr>
              <a:t>26.58%</a:t>
            </a:r>
            <a:r>
              <a:rPr lang="en-US" dirty="0">
                <a:solidFill>
                  <a:schemeClr val="accent5">
                    <a:lumMod val="50000"/>
                  </a:schemeClr>
                </a:solidFill>
                <a:latin typeface="Times New Roman" panose="02020603050405020304" pitchFamily="18" charset="0"/>
                <a:cs typeface="Times New Roman" panose="02020603050405020304" pitchFamily="18" charset="0"/>
              </a:rPr>
              <a:t>.</a:t>
            </a:r>
          </a:p>
          <a:p>
            <a:pPr marL="285750" indent="-285750" algn="just">
              <a:lnSpc>
                <a:spcPct val="150000"/>
              </a:lnSpc>
              <a:buClr>
                <a:schemeClr val="accent5">
                  <a:lumMod val="50000"/>
                </a:schemeClr>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Churn is strongly influenced by:</a:t>
            </a:r>
          </a:p>
          <a:p>
            <a:pPr marL="742950" lvl="1" indent="-285750" algn="just">
              <a:lnSpc>
                <a:spcPct val="150000"/>
              </a:lnSpc>
              <a:buFont typeface="Wingdings" panose="05000000000000000000" pitchFamily="2" charset="2"/>
              <a:buChar char="§"/>
            </a:pPr>
            <a:r>
              <a:rPr lang="en-US" b="1" dirty="0">
                <a:solidFill>
                  <a:schemeClr val="accent5">
                    <a:lumMod val="50000"/>
                  </a:schemeClr>
                </a:solidFill>
                <a:latin typeface="Times New Roman" panose="02020603050405020304" pitchFamily="18" charset="0"/>
                <a:cs typeface="Times New Roman" panose="02020603050405020304" pitchFamily="18" charset="0"/>
              </a:rPr>
              <a:t>Contract Type</a:t>
            </a:r>
            <a:r>
              <a:rPr lang="en-US" dirty="0">
                <a:solidFill>
                  <a:schemeClr val="accent5">
                    <a:lumMod val="50000"/>
                  </a:schemeClr>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Month-to-month has the highest churn.</a:t>
            </a:r>
          </a:p>
          <a:p>
            <a:pPr marL="742950" lvl="1" indent="-285750" algn="just">
              <a:lnSpc>
                <a:spcPct val="150000"/>
              </a:lnSpc>
              <a:buFont typeface="Wingdings" panose="05000000000000000000" pitchFamily="2" charset="2"/>
              <a:buChar char="§"/>
            </a:pPr>
            <a:r>
              <a:rPr lang="en-US" b="1" dirty="0">
                <a:solidFill>
                  <a:schemeClr val="accent5">
                    <a:lumMod val="50000"/>
                  </a:schemeClr>
                </a:solidFill>
                <a:latin typeface="Times New Roman" panose="02020603050405020304" pitchFamily="18" charset="0"/>
                <a:cs typeface="Times New Roman" panose="02020603050405020304" pitchFamily="18" charset="0"/>
              </a:rPr>
              <a:t>Tenure</a:t>
            </a:r>
            <a:r>
              <a:rPr lang="en-US" dirty="0">
                <a:latin typeface="Times New Roman" panose="02020603050405020304" pitchFamily="18" charset="0"/>
                <a:cs typeface="Times New Roman" panose="02020603050405020304" pitchFamily="18" charset="0"/>
              </a:rPr>
              <a:t> → Low-tenure customers churn the most.</a:t>
            </a:r>
          </a:p>
          <a:p>
            <a:pPr marL="742950" lvl="1" indent="-285750" algn="just">
              <a:lnSpc>
                <a:spcPct val="150000"/>
              </a:lnSpc>
              <a:buFont typeface="Wingdings" panose="05000000000000000000" pitchFamily="2" charset="2"/>
              <a:buChar char="§"/>
            </a:pPr>
            <a:r>
              <a:rPr lang="en-US" b="1" dirty="0">
                <a:solidFill>
                  <a:schemeClr val="accent5">
                    <a:lumMod val="50000"/>
                  </a:schemeClr>
                </a:solidFill>
                <a:latin typeface="Times New Roman" panose="02020603050405020304" pitchFamily="18" charset="0"/>
                <a:cs typeface="Times New Roman" panose="02020603050405020304" pitchFamily="18" charset="0"/>
              </a:rPr>
              <a:t>Internet Service</a:t>
            </a:r>
            <a:r>
              <a:rPr lang="en-US" dirty="0">
                <a:solidFill>
                  <a:schemeClr val="accent5">
                    <a:lumMod val="50000"/>
                  </a:schemeClr>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Fiber optic users show the highest churn.</a:t>
            </a:r>
          </a:p>
          <a:p>
            <a:pPr marL="742950" lvl="1" indent="-285750" algn="just">
              <a:lnSpc>
                <a:spcPct val="150000"/>
              </a:lnSpc>
              <a:buFont typeface="Wingdings" panose="05000000000000000000" pitchFamily="2" charset="2"/>
              <a:buChar char="§"/>
            </a:pPr>
            <a:r>
              <a:rPr lang="en-US" b="1" dirty="0">
                <a:solidFill>
                  <a:schemeClr val="accent5">
                    <a:lumMod val="50000"/>
                  </a:schemeClr>
                </a:solidFill>
                <a:latin typeface="Times New Roman" panose="02020603050405020304" pitchFamily="18" charset="0"/>
                <a:cs typeface="Times New Roman" panose="02020603050405020304" pitchFamily="18" charset="0"/>
              </a:rPr>
              <a:t>Payment Method</a:t>
            </a:r>
            <a:r>
              <a:rPr lang="en-US" dirty="0">
                <a:solidFill>
                  <a:schemeClr val="accent5">
                    <a:lumMod val="50000"/>
                  </a:schemeClr>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Electronic check users churn heavily.</a:t>
            </a:r>
          </a:p>
          <a:p>
            <a:pPr marL="742950" lvl="1" indent="-285750" algn="just">
              <a:lnSpc>
                <a:spcPct val="150000"/>
              </a:lnSpc>
              <a:buFont typeface="Wingdings" panose="05000000000000000000" pitchFamily="2" charset="2"/>
              <a:buChar char="§"/>
            </a:pPr>
            <a:r>
              <a:rPr lang="en-US" b="1" dirty="0">
                <a:solidFill>
                  <a:schemeClr val="accent5">
                    <a:lumMod val="50000"/>
                  </a:schemeClr>
                </a:solidFill>
                <a:latin typeface="Times New Roman" panose="02020603050405020304" pitchFamily="18" charset="0"/>
                <a:cs typeface="Times New Roman" panose="02020603050405020304" pitchFamily="18" charset="0"/>
              </a:rPr>
              <a:t>Paperless Billing</a:t>
            </a:r>
            <a:r>
              <a:rPr lang="en-US" dirty="0">
                <a:solidFill>
                  <a:schemeClr val="accent5">
                    <a:lumMod val="50000"/>
                  </a:schemeClr>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Higher churn than non-paperless users.</a:t>
            </a:r>
          </a:p>
          <a:p>
            <a:pPr marL="285750" indent="-285750" algn="just">
              <a:lnSpc>
                <a:spcPct val="150000"/>
              </a:lnSpc>
              <a:buFont typeface="Wingdings" panose="05000000000000000000" pitchFamily="2" charset="2"/>
              <a:buChar char="Ø"/>
            </a:pPr>
            <a:r>
              <a:rPr lang="en-US" b="1" dirty="0">
                <a:solidFill>
                  <a:schemeClr val="accent5">
                    <a:lumMod val="50000"/>
                  </a:schemeClr>
                </a:solidFill>
                <a:latin typeface="Times New Roman" panose="02020603050405020304" pitchFamily="18" charset="0"/>
                <a:cs typeface="Times New Roman" panose="02020603050405020304" pitchFamily="18" charset="0"/>
              </a:rPr>
              <a:t>High-risk customer segments</a:t>
            </a:r>
            <a:r>
              <a:rPr lang="en-US" dirty="0">
                <a:latin typeface="Times New Roman" panose="02020603050405020304" pitchFamily="18" charset="0"/>
                <a:cs typeface="Times New Roman" panose="02020603050405020304" pitchFamily="18" charset="0"/>
              </a:rPr>
              <a:t>:</a:t>
            </a:r>
          </a:p>
          <a:p>
            <a:pPr marL="742950" lvl="1" indent="-285750" algn="just">
              <a:lnSpc>
                <a:spcPct val="150000"/>
              </a:lnSpc>
              <a:buClr>
                <a:schemeClr val="accent5">
                  <a:lumMod val="50000"/>
                </a:schemeClr>
              </a:buCl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New customers (0–12 months)</a:t>
            </a:r>
          </a:p>
          <a:p>
            <a:pPr marL="742950" lvl="1" indent="-285750" algn="just">
              <a:lnSpc>
                <a:spcPct val="150000"/>
              </a:lnSpc>
              <a:buClr>
                <a:schemeClr val="accent5">
                  <a:lumMod val="50000"/>
                </a:schemeClr>
              </a:buCl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Month-to-month users</a:t>
            </a:r>
          </a:p>
          <a:p>
            <a:pPr marL="742950" lvl="1" indent="-285750" algn="just">
              <a:lnSpc>
                <a:spcPct val="150000"/>
              </a:lnSpc>
              <a:buClr>
                <a:schemeClr val="accent5">
                  <a:lumMod val="50000"/>
                </a:schemeClr>
              </a:buCl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Fiber optic users</a:t>
            </a:r>
          </a:p>
          <a:p>
            <a:pPr marL="742950" lvl="1" indent="-285750" algn="just">
              <a:lnSpc>
                <a:spcPct val="150000"/>
              </a:lnSpc>
              <a:buClr>
                <a:schemeClr val="accent5">
                  <a:lumMod val="50000"/>
                </a:schemeClr>
              </a:buCl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Electronic check users</a:t>
            </a:r>
          </a:p>
          <a:p>
            <a:pPr marL="285750" indent="-285750" algn="just">
              <a:lnSpc>
                <a:spcPct val="150000"/>
              </a:lnSpc>
              <a:buClr>
                <a:schemeClr val="accent5">
                  <a:lumMod val="50000"/>
                </a:schemeClr>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Total revenue is </a:t>
            </a:r>
            <a:r>
              <a:rPr lang="en-US" b="1" dirty="0">
                <a:solidFill>
                  <a:schemeClr val="accent5">
                    <a:lumMod val="50000"/>
                  </a:schemeClr>
                </a:solidFill>
                <a:latin typeface="Times New Roman" panose="02020603050405020304" pitchFamily="18" charset="0"/>
                <a:cs typeface="Times New Roman" panose="02020603050405020304" pitchFamily="18" charset="0"/>
              </a:rPr>
              <a:t>much higher from retained customers</a:t>
            </a:r>
            <a:r>
              <a:rPr lang="en-US" dirty="0">
                <a:latin typeface="Times New Roman" panose="02020603050405020304" pitchFamily="18" charset="0"/>
                <a:cs typeface="Times New Roman" panose="02020603050405020304" pitchFamily="18" charset="0"/>
              </a:rPr>
              <a:t>, confirming that churn directly reduces revenue.</a:t>
            </a:r>
          </a:p>
        </p:txBody>
      </p:sp>
      <p:pic>
        <p:nvPicPr>
          <p:cNvPr id="6" name="Picture 5" descr="A close up of a logo&#10;&#10;AI-generated content may be incorrect.">
            <a:extLst>
              <a:ext uri="{FF2B5EF4-FFF2-40B4-BE49-F238E27FC236}">
                <a16:creationId xmlns:a16="http://schemas.microsoft.com/office/drawing/2014/main" id="{B57F1265-9FBC-157A-6D1A-C8F54ADE0017}"/>
              </a:ext>
            </a:extLst>
          </p:cNvPr>
          <p:cNvPicPr>
            <a:picLocks noChangeAspect="1"/>
          </p:cNvPicPr>
          <p:nvPr/>
        </p:nvPicPr>
        <p:blipFill>
          <a:blip r:embed="rId3">
            <a:extLst>
              <a:ext uri="{28A0092B-C50C-407E-A947-70E740481C1C}">
                <a14:useLocalDpi xmlns:a14="http://schemas.microsoft.com/office/drawing/2010/main" val="0"/>
              </a:ext>
            </a:extLst>
          </a:blip>
          <a:srcRect l="22201" t="18728" r="22736" b="30658"/>
          <a:stretch>
            <a:fillRect/>
          </a:stretch>
        </p:blipFill>
        <p:spPr>
          <a:xfrm>
            <a:off x="9699171" y="6248400"/>
            <a:ext cx="2307772" cy="609600"/>
          </a:xfrm>
          <a:prstGeom prst="rect">
            <a:avLst/>
          </a:prstGeom>
        </p:spPr>
      </p:pic>
    </p:spTree>
    <p:extLst>
      <p:ext uri="{BB962C8B-B14F-4D97-AF65-F5344CB8AC3E}">
        <p14:creationId xmlns:p14="http://schemas.microsoft.com/office/powerpoint/2010/main" val="2168348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8D84CF28-E36E-43BC-6E7F-39561A362F06}"/>
              </a:ext>
            </a:extLst>
          </p:cNvPr>
          <p:cNvPicPr>
            <a:picLocks noChangeAspect="1"/>
          </p:cNvPicPr>
          <p:nvPr/>
        </p:nvPicPr>
        <p:blipFill>
          <a:blip r:embed="rId2">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4" name="Title 1">
            <a:extLst>
              <a:ext uri="{FF2B5EF4-FFF2-40B4-BE49-F238E27FC236}">
                <a16:creationId xmlns:a16="http://schemas.microsoft.com/office/drawing/2014/main" id="{703D6663-2910-069B-77D8-21F82E6456F0}"/>
              </a:ext>
            </a:extLst>
          </p:cNvPr>
          <p:cNvSpPr txBox="1">
            <a:spLocks/>
          </p:cNvSpPr>
          <p:nvPr/>
        </p:nvSpPr>
        <p:spPr>
          <a:xfrm>
            <a:off x="532783" y="256136"/>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Executive Summary</a:t>
            </a:r>
            <a:br>
              <a:rPr lang="en-US" sz="4000" b="1" dirty="0">
                <a:solidFill>
                  <a:srgbClr val="FF0000"/>
                </a:solidFill>
                <a:latin typeface="Times New Roman" panose="02020603050405020304" pitchFamily="18" charset="0"/>
                <a:cs typeface="Times New Roman" panose="02020603050405020304" pitchFamily="18" charset="0"/>
              </a:rPr>
            </a:br>
            <a:br>
              <a:rPr lang="en-US" sz="4000" b="1" dirty="0">
                <a:solidFill>
                  <a:srgbClr val="FF0000"/>
                </a:solidFill>
                <a:latin typeface="Times New Roman" panose="02020603050405020304" pitchFamily="18" charset="0"/>
                <a:cs typeface="Times New Roman" panose="02020603050405020304" pitchFamily="18" charset="0"/>
              </a:rPr>
            </a:br>
            <a:br>
              <a:rPr lang="en-US" sz="4000" b="1" dirty="0">
                <a:solidFill>
                  <a:srgbClr val="FF0000"/>
                </a:solidFill>
                <a:latin typeface="Times New Roman" panose="02020603050405020304" pitchFamily="18" charset="0"/>
                <a:cs typeface="Times New Roman" panose="02020603050405020304" pitchFamily="18" charset="0"/>
              </a:rPr>
            </a:br>
            <a:endParaRPr lang="en-US" sz="4000" b="1" dirty="0">
              <a:solidFill>
                <a:srgbClr val="FF000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872B666-50C2-6FF7-8654-BF59593ABD82}"/>
              </a:ext>
            </a:extLst>
          </p:cNvPr>
          <p:cNvSpPr txBox="1"/>
          <p:nvPr/>
        </p:nvSpPr>
        <p:spPr>
          <a:xfrm>
            <a:off x="532783" y="916701"/>
            <a:ext cx="10842788" cy="4922951"/>
          </a:xfrm>
          <a:prstGeom prst="rect">
            <a:avLst/>
          </a:prstGeom>
          <a:noFill/>
        </p:spPr>
        <p:txBody>
          <a:bodyPr wrap="square">
            <a:spAutoFit/>
          </a:bodyPr>
          <a:lstStyle/>
          <a:p>
            <a:pPr marL="342900" marR="0" lvl="0" indent="-34290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Analyzed </a:t>
            </a:r>
            <a:r>
              <a:rPr kumimoji="0" lang="en-US" altLang="en-US" sz="2000" b="1"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7,032 telecom customers</a:t>
            </a:r>
            <a:r>
              <a:rPr kumimoji="0" lang="en-US" altLang="en-US" sz="2000" b="0"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understand churn behavior.</a:t>
            </a:r>
          </a:p>
          <a:p>
            <a:pPr marL="342900" marR="0" lvl="0" indent="-34290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Identified an overall </a:t>
            </a:r>
            <a:r>
              <a:rPr kumimoji="0" lang="en-US" altLang="en-US" sz="2000" b="1"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churn rate of 26.58%</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which is high for the telecom industry.</a:t>
            </a:r>
          </a:p>
          <a:p>
            <a:pPr marL="342900" marR="0" lvl="0" indent="-34290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Churn is most common among </a:t>
            </a:r>
            <a:r>
              <a:rPr kumimoji="0" lang="en-US" altLang="en-US" sz="2000" b="1"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month-to-month contract customers</a:t>
            </a:r>
            <a:r>
              <a:rPr kumimoji="0" lang="en-US" altLang="en-US" sz="2000" b="0"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fiber optic users</a:t>
            </a:r>
            <a:r>
              <a:rPr kumimoji="0" lang="en-US" altLang="en-US" sz="2000" b="0"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rPr>
              <a:t>and </a:t>
            </a:r>
            <a:r>
              <a:rPr kumimoji="0" lang="en-US" altLang="en-US" sz="2000" b="1"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customers with tenure below 12 months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342900" marR="0" lvl="0" indent="-34290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Customers using </a:t>
            </a:r>
            <a:r>
              <a:rPr kumimoji="0" lang="en-US" altLang="en-US" sz="2000" b="1"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electronic check</a:t>
            </a:r>
            <a:r>
              <a:rPr kumimoji="0" lang="en-US" altLang="en-US" sz="2000" b="0"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a:t>
            </a:r>
            <a:r>
              <a:rPr kumimoji="0" lang="en-US" altLang="en-US" sz="2000" b="1"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paperless billing</a:t>
            </a:r>
            <a:r>
              <a:rPr kumimoji="0" lang="en-US" altLang="en-US" sz="2000" b="0"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show higher churn.</a:t>
            </a:r>
          </a:p>
          <a:p>
            <a:pPr marL="342900" marR="0" lvl="0" indent="-34290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Customers with </a:t>
            </a:r>
            <a:r>
              <a:rPr kumimoji="0" lang="en-US" altLang="en-US" sz="2000" b="1"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multiple add-on services</a:t>
            </a:r>
            <a:r>
              <a:rPr kumimoji="0" lang="en-US" altLang="en-US" sz="2000" b="0"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tend to stay longer.</a:t>
            </a:r>
          </a:p>
          <a:p>
            <a:pPr marL="342900" marR="0" lvl="0" indent="-34290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dashboard helps identify </a:t>
            </a:r>
            <a:r>
              <a:rPr kumimoji="0" lang="en-US" altLang="en-US" sz="2000" b="1"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high-risk customers</a:t>
            </a:r>
            <a:r>
              <a:rPr kumimoji="0" lang="en-US" altLang="en-US" sz="2000" b="0"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a:t>
            </a:r>
            <a:r>
              <a:rPr kumimoji="0" lang="en-US" altLang="en-US" sz="2000" b="1"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key churn drivers</a:t>
            </a:r>
            <a:r>
              <a:rPr kumimoji="0" lang="en-US" altLang="en-US" sz="2000" b="0"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better decision-making.</a:t>
            </a:r>
          </a:p>
        </p:txBody>
      </p:sp>
    </p:spTree>
    <p:extLst>
      <p:ext uri="{BB962C8B-B14F-4D97-AF65-F5344CB8AC3E}">
        <p14:creationId xmlns:p14="http://schemas.microsoft.com/office/powerpoint/2010/main" val="5055438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81298-C5F9-1955-B4A2-CB87FB43E46F}"/>
            </a:ext>
          </a:extLst>
        </p:cNvPr>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D74C575F-3795-5E11-C20E-4A82907936E9}"/>
              </a:ext>
            </a:extLst>
          </p:cNvPr>
          <p:cNvPicPr>
            <a:picLocks noChangeAspect="1"/>
          </p:cNvPicPr>
          <p:nvPr/>
        </p:nvPicPr>
        <p:blipFill>
          <a:blip r:embed="rId2">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4" name="Title 1">
            <a:extLst>
              <a:ext uri="{FF2B5EF4-FFF2-40B4-BE49-F238E27FC236}">
                <a16:creationId xmlns:a16="http://schemas.microsoft.com/office/drawing/2014/main" id="{ED577842-576B-F6CC-5FF3-8E1F5257866B}"/>
              </a:ext>
            </a:extLst>
          </p:cNvPr>
          <p:cNvSpPr txBox="1">
            <a:spLocks/>
          </p:cNvSpPr>
          <p:nvPr/>
        </p:nvSpPr>
        <p:spPr>
          <a:xfrm>
            <a:off x="532783" y="256136"/>
            <a:ext cx="10701274"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Business Recommendations to Reduce Churn</a:t>
            </a:r>
            <a:br>
              <a:rPr lang="en-US" sz="4000" b="1" dirty="0">
                <a:solidFill>
                  <a:srgbClr val="FF0000"/>
                </a:solidFill>
                <a:latin typeface="Times New Roman" panose="02020603050405020304" pitchFamily="18" charset="0"/>
                <a:cs typeface="Times New Roman" panose="02020603050405020304" pitchFamily="18" charset="0"/>
              </a:rPr>
            </a:br>
            <a:br>
              <a:rPr lang="en-US" sz="4000" b="1" dirty="0">
                <a:solidFill>
                  <a:srgbClr val="FF0000"/>
                </a:solidFill>
                <a:latin typeface="Times New Roman" panose="02020603050405020304" pitchFamily="18" charset="0"/>
                <a:cs typeface="Times New Roman" panose="02020603050405020304" pitchFamily="18" charset="0"/>
              </a:rPr>
            </a:br>
            <a:br>
              <a:rPr lang="en-US" sz="4000" b="1" dirty="0">
                <a:solidFill>
                  <a:srgbClr val="FF0000"/>
                </a:solidFill>
                <a:latin typeface="Times New Roman" panose="02020603050405020304" pitchFamily="18" charset="0"/>
                <a:cs typeface="Times New Roman" panose="02020603050405020304" pitchFamily="18" charset="0"/>
              </a:rPr>
            </a:br>
            <a:endParaRPr lang="en-US" sz="4000" b="1" dirty="0">
              <a:solidFill>
                <a:srgbClr val="FF000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17492BA-A967-1E72-A197-574151F722BA}"/>
              </a:ext>
            </a:extLst>
          </p:cNvPr>
          <p:cNvSpPr txBox="1"/>
          <p:nvPr/>
        </p:nvSpPr>
        <p:spPr>
          <a:xfrm>
            <a:off x="532783" y="916700"/>
            <a:ext cx="10701274" cy="3691844"/>
          </a:xfrm>
          <a:prstGeom prst="rect">
            <a:avLst/>
          </a:prstGeom>
          <a:noFill/>
        </p:spPr>
        <p:txBody>
          <a:bodyPr wrap="square">
            <a:spAutoFit/>
          </a:bodyPr>
          <a:lstStyle/>
          <a:p>
            <a:pPr marL="342900" marR="0" lvl="0" indent="-34290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Encourage </a:t>
            </a:r>
            <a:r>
              <a:rPr kumimoji="0" lang="en-US" altLang="en-US" sz="2000" b="1"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month-to-month customers</a:t>
            </a:r>
            <a:r>
              <a:rPr kumimoji="0" lang="en-US" altLang="en-US" sz="2000" b="0"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shift to </a:t>
            </a:r>
            <a:r>
              <a:rPr kumimoji="0" lang="en-US" altLang="en-US" sz="2000" b="1"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long-term contracts</a:t>
            </a:r>
            <a:r>
              <a:rPr kumimoji="0" lang="en-US" altLang="en-US" sz="2000" b="0"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using discounts or offers.</a:t>
            </a:r>
          </a:p>
          <a:p>
            <a:pPr marL="342900" marR="0" lvl="0" indent="-34290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a:t>
            </a:r>
            <a:r>
              <a:rPr kumimoji="0" lang="en-US" altLang="en-US" sz="2000" b="1"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fiber optic service quality</a:t>
            </a:r>
            <a:r>
              <a:rPr kumimoji="0" lang="en-US" altLang="en-US" sz="2000" b="0"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customer support.</a:t>
            </a:r>
          </a:p>
          <a:p>
            <a:pPr marL="342900" marR="0" lvl="0" indent="-34290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Focus retention campaigns on </a:t>
            </a:r>
            <a:r>
              <a:rPr kumimoji="0" lang="en-US" altLang="en-US" sz="2000" b="1"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new customers (0–12 months tenure)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342900" marR="0" lvl="0" indent="-34290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Promote </a:t>
            </a:r>
            <a:r>
              <a:rPr kumimoji="0" lang="en-US" altLang="en-US" sz="2000" b="1"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add-on services</a:t>
            </a:r>
            <a:r>
              <a:rPr kumimoji="0" lang="en-US" altLang="en-US" sz="2000" b="0"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such as Online Security and Device Protection.</a:t>
            </a:r>
          </a:p>
          <a:p>
            <a:pPr marL="342900" marR="0" lvl="0" indent="-34290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Encourage </a:t>
            </a:r>
            <a:r>
              <a:rPr kumimoji="0" lang="en-US" altLang="en-US" sz="2000" b="1"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auto-payment methods</a:t>
            </a:r>
            <a:r>
              <a:rPr kumimoji="0" lang="en-US" altLang="en-US" sz="2000" b="0"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instead of electronic checks.</a:t>
            </a:r>
          </a:p>
          <a:p>
            <a:pPr marL="342900" marR="0" lvl="0" indent="-34290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 targeted plans for </a:t>
            </a:r>
            <a:r>
              <a:rPr kumimoji="0" lang="en-US" altLang="en-US" sz="2000" b="1"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senior citizens</a:t>
            </a:r>
            <a:r>
              <a:rPr kumimoji="0" lang="en-US" altLang="en-US" sz="2000" b="0"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 simple pricing and support.</a:t>
            </a:r>
          </a:p>
        </p:txBody>
      </p:sp>
    </p:spTree>
    <p:extLst>
      <p:ext uri="{BB962C8B-B14F-4D97-AF65-F5344CB8AC3E}">
        <p14:creationId xmlns:p14="http://schemas.microsoft.com/office/powerpoint/2010/main" val="6794179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hidden="1"/>
          <p:cNvSpPr>
            <a:spLocks noGrp="1"/>
          </p:cNvSpPr>
          <p:nvPr>
            <p:ph type="title"/>
          </p:nvPr>
        </p:nvSpPr>
        <p:spPr/>
        <p:txBody>
          <a:bodyPr/>
          <a:lstStyle/>
          <a:p>
            <a:r>
              <a:rPr dirty="0"/>
              <a:t>Summary page</a:t>
            </a:r>
          </a:p>
        </p:txBody>
      </p:sp>
      <p:pic>
        <p:nvPicPr>
          <p:cNvPr id="2" name="Picture 1" descr="A close up of a logo&#10;&#10;AI-generated content may be incorrect.">
            <a:extLst>
              <a:ext uri="{FF2B5EF4-FFF2-40B4-BE49-F238E27FC236}">
                <a16:creationId xmlns:a16="http://schemas.microsoft.com/office/drawing/2014/main" id="{A62AC3A9-8D96-5C35-A8FE-2958C62FDD0D}"/>
              </a:ext>
            </a:extLst>
          </p:cNvPr>
          <p:cNvPicPr>
            <a:picLocks noChangeAspect="1"/>
          </p:cNvPicPr>
          <p:nvPr/>
        </p:nvPicPr>
        <p:blipFill>
          <a:blip r:embed="rId3">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5" name="Title 1">
            <a:extLst>
              <a:ext uri="{FF2B5EF4-FFF2-40B4-BE49-F238E27FC236}">
                <a16:creationId xmlns:a16="http://schemas.microsoft.com/office/drawing/2014/main" id="{FBC19A81-08AB-9D9C-B573-B06B6B6E7212}"/>
              </a:ext>
            </a:extLst>
          </p:cNvPr>
          <p:cNvSpPr txBox="1">
            <a:spLocks/>
          </p:cNvSpPr>
          <p:nvPr/>
        </p:nvSpPr>
        <p:spPr>
          <a:xfrm>
            <a:off x="839788" y="440267"/>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Conclusion</a:t>
            </a:r>
            <a:br>
              <a:rPr lang="en-US" sz="4000" b="1" dirty="0">
                <a:solidFill>
                  <a:srgbClr val="FF0000"/>
                </a:solidFill>
                <a:latin typeface="Times New Roman" panose="02020603050405020304" pitchFamily="18" charset="0"/>
                <a:cs typeface="Times New Roman" panose="02020603050405020304" pitchFamily="18" charset="0"/>
              </a:rPr>
            </a:br>
            <a:br>
              <a:rPr lang="en-US" sz="4000" b="1" dirty="0">
                <a:solidFill>
                  <a:srgbClr val="FF0000"/>
                </a:solidFill>
                <a:latin typeface="Times New Roman" panose="02020603050405020304" pitchFamily="18" charset="0"/>
                <a:cs typeface="Times New Roman" panose="02020603050405020304" pitchFamily="18" charset="0"/>
              </a:rPr>
            </a:br>
            <a:endParaRPr lang="en-US" sz="4000" b="1" dirty="0">
              <a:solidFill>
                <a:srgbClr val="FF0000"/>
              </a:solidFill>
              <a:latin typeface="Times New Roman" panose="02020603050405020304" pitchFamily="18" charset="0"/>
              <a:cs typeface="Times New Roman" panose="02020603050405020304" pitchFamily="18" charset="0"/>
            </a:endParaRPr>
          </a:p>
        </p:txBody>
      </p:sp>
      <p:sp>
        <p:nvSpPr>
          <p:cNvPr id="9" name="Rectangle 4">
            <a:extLst>
              <a:ext uri="{FF2B5EF4-FFF2-40B4-BE49-F238E27FC236}">
                <a16:creationId xmlns:a16="http://schemas.microsoft.com/office/drawing/2014/main" id="{54DBEF02-96BB-79B2-B3D8-232AF52482F4}"/>
              </a:ext>
            </a:extLst>
          </p:cNvPr>
          <p:cNvSpPr>
            <a:spLocks noChangeArrowheads="1"/>
          </p:cNvSpPr>
          <p:nvPr/>
        </p:nvSpPr>
        <p:spPr bwMode="auto">
          <a:xfrm>
            <a:off x="839788" y="967524"/>
            <a:ext cx="10336211" cy="4922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gn="just" eaLnBrk="0" fontAlgn="base" hangingPunct="0">
              <a:lnSpc>
                <a:spcPct val="20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Customer churn in the telecom business is strongly influenced by</a:t>
            </a:r>
            <a:r>
              <a:rPr lang="en-US" altLang="en-US" sz="2000" dirty="0">
                <a:solidFill>
                  <a:schemeClr val="accent5">
                    <a:lumMod val="50000"/>
                  </a:schemeClr>
                </a:solidFill>
                <a:latin typeface="Times New Roman" panose="02020603050405020304" pitchFamily="18" charset="0"/>
                <a:cs typeface="Times New Roman" panose="02020603050405020304" pitchFamily="18" charset="0"/>
              </a:rPr>
              <a:t> </a:t>
            </a:r>
            <a:r>
              <a:rPr lang="en-US" altLang="en-US" sz="2000" b="1" dirty="0">
                <a:solidFill>
                  <a:schemeClr val="accent5">
                    <a:lumMod val="50000"/>
                  </a:schemeClr>
                </a:solidFill>
                <a:latin typeface="Times New Roman" panose="02020603050405020304" pitchFamily="18" charset="0"/>
                <a:cs typeface="Times New Roman" panose="02020603050405020304" pitchFamily="18" charset="0"/>
              </a:rPr>
              <a:t>contract type, tenure, service usage, and billing behavior</a:t>
            </a:r>
            <a:r>
              <a:rPr lang="en-US" altLang="en-US" sz="2000" dirty="0">
                <a:solidFill>
                  <a:schemeClr val="accent5">
                    <a:lumMod val="50000"/>
                  </a:schemeClr>
                </a:solidFill>
                <a:latin typeface="Times New Roman" panose="02020603050405020304" pitchFamily="18" charset="0"/>
                <a:cs typeface="Times New Roman" panose="02020603050405020304" pitchFamily="18" charset="0"/>
              </a:rPr>
              <a:t>.</a:t>
            </a:r>
          </a:p>
          <a:p>
            <a:pPr marL="285750" lvl="0" indent="-285750" algn="just" eaLnBrk="0" fontAlgn="base" hangingPunct="0">
              <a:lnSpc>
                <a:spcPct val="20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Short-tenure and month-to-month customers are the most vulnerable to churn.</a:t>
            </a:r>
          </a:p>
          <a:p>
            <a:pPr marL="285750" lvl="0" indent="-285750" algn="just" eaLnBrk="0" fontAlgn="base" hangingPunct="0">
              <a:lnSpc>
                <a:spcPct val="20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Power BI enabled clear identification of </a:t>
            </a:r>
            <a:r>
              <a:rPr lang="en-US" altLang="en-US" sz="2000" b="1" dirty="0">
                <a:solidFill>
                  <a:schemeClr val="accent5">
                    <a:lumMod val="50000"/>
                  </a:schemeClr>
                </a:solidFill>
                <a:latin typeface="Times New Roman" panose="02020603050405020304" pitchFamily="18" charset="0"/>
                <a:cs typeface="Times New Roman" panose="02020603050405020304" pitchFamily="18" charset="0"/>
              </a:rPr>
              <a:t>high-risk customer segments</a:t>
            </a:r>
            <a:r>
              <a:rPr lang="en-US" altLang="en-US" sz="2000" dirty="0">
                <a:solidFill>
                  <a:schemeClr val="accent5">
                    <a:lumMod val="50000"/>
                  </a:schemeClr>
                </a:solidFill>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through interactive dashboards.</a:t>
            </a:r>
          </a:p>
          <a:p>
            <a:pPr marL="285750" lvl="0" indent="-285750" algn="just" eaLnBrk="0" fontAlgn="base" hangingPunct="0">
              <a:lnSpc>
                <a:spcPct val="20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By acting on these insights, telecom companies can </a:t>
            </a:r>
            <a:r>
              <a:rPr lang="en-US" altLang="en-US" sz="2000" b="1" dirty="0">
                <a:solidFill>
                  <a:schemeClr val="accent5">
                    <a:lumMod val="50000"/>
                  </a:schemeClr>
                </a:solidFill>
                <a:latin typeface="Times New Roman" panose="02020603050405020304" pitchFamily="18" charset="0"/>
                <a:cs typeface="Times New Roman" panose="02020603050405020304" pitchFamily="18" charset="0"/>
              </a:rPr>
              <a:t>reduce churn, improve retention, and protect revenue</a:t>
            </a:r>
            <a:r>
              <a:rPr lang="en-US" altLang="en-US" sz="2000" dirty="0">
                <a:solidFill>
                  <a:schemeClr val="accent5">
                    <a:lumMod val="50000"/>
                  </a:schemeClr>
                </a:solidFill>
                <a:latin typeface="Times New Roman" panose="02020603050405020304" pitchFamily="18" charset="0"/>
                <a:cs typeface="Times New Roman" panose="02020603050405020304" pitchFamily="18" charset="0"/>
              </a:rPr>
              <a:t>.</a:t>
            </a:r>
          </a:p>
          <a:p>
            <a:pPr marL="285750" lvl="0" indent="-285750" algn="just" eaLnBrk="0" fontAlgn="base" hangingPunct="0">
              <a:lnSpc>
                <a:spcPct val="20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This project demonstrates how data-driven analysis supports </a:t>
            </a:r>
            <a:r>
              <a:rPr lang="en-US" altLang="en-US" sz="2000" b="1" dirty="0">
                <a:solidFill>
                  <a:schemeClr val="accent5">
                    <a:lumMod val="50000"/>
                  </a:schemeClr>
                </a:solidFill>
                <a:latin typeface="Times New Roman" panose="02020603050405020304" pitchFamily="18" charset="0"/>
                <a:cs typeface="Times New Roman" panose="02020603050405020304" pitchFamily="18" charset="0"/>
              </a:rPr>
              <a:t>better business decisions</a:t>
            </a:r>
            <a:r>
              <a:rPr lang="en-US" altLang="en-US" sz="2000" dirty="0">
                <a:solidFill>
                  <a:schemeClr val="accent5">
                    <a:lumMod val="50000"/>
                  </a:schemeClr>
                </a:solidFill>
                <a:latin typeface="Times New Roman" panose="02020603050405020304" pitchFamily="18" charset="0"/>
                <a:cs typeface="Times New Roman" panose="02020603050405020304" pitchFamily="18" charset="0"/>
              </a:rPr>
              <a: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49214CC8-D9AB-2F80-029E-C22264687F14}"/>
              </a:ext>
            </a:extLst>
          </p:cNvPr>
          <p:cNvPicPr>
            <a:picLocks noChangeAspect="1"/>
          </p:cNvPicPr>
          <p:nvPr/>
        </p:nvPicPr>
        <p:blipFill>
          <a:blip r:embed="rId2">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5" name="TextBox 4">
            <a:extLst>
              <a:ext uri="{FF2B5EF4-FFF2-40B4-BE49-F238E27FC236}">
                <a16:creationId xmlns:a16="http://schemas.microsoft.com/office/drawing/2014/main" id="{6FD81D77-67A2-8145-D323-469DC5D10E87}"/>
              </a:ext>
            </a:extLst>
          </p:cNvPr>
          <p:cNvSpPr txBox="1"/>
          <p:nvPr/>
        </p:nvSpPr>
        <p:spPr>
          <a:xfrm>
            <a:off x="2435498" y="390434"/>
            <a:ext cx="2854960" cy="5478423"/>
          </a:xfrm>
          <a:prstGeom prst="rect">
            <a:avLst/>
          </a:prstGeom>
          <a:noFill/>
        </p:spPr>
        <p:txBody>
          <a:bodyPr wrap="square" rtlCol="0">
            <a:spAutoFit/>
          </a:bodyPr>
          <a:lstStyle/>
          <a:p>
            <a:r>
              <a:rPr lang="en-US" sz="35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p:txBody>
      </p:sp>
      <p:sp>
        <p:nvSpPr>
          <p:cNvPr id="6" name="TextBox 5">
            <a:extLst>
              <a:ext uri="{FF2B5EF4-FFF2-40B4-BE49-F238E27FC236}">
                <a16:creationId xmlns:a16="http://schemas.microsoft.com/office/drawing/2014/main" id="{5B46DC4D-7E17-51EE-1629-8C5D7E1759DB}"/>
              </a:ext>
            </a:extLst>
          </p:cNvPr>
          <p:cNvSpPr txBox="1"/>
          <p:nvPr/>
        </p:nvSpPr>
        <p:spPr>
          <a:xfrm>
            <a:off x="4602480" y="2497976"/>
            <a:ext cx="6146800" cy="1862048"/>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Any</a:t>
            </a:r>
          </a:p>
          <a:p>
            <a:r>
              <a:rPr lang="en-US" sz="7500" b="1" dirty="0">
                <a:latin typeface="Times New Roman" panose="02020603050405020304" pitchFamily="18" charset="0"/>
                <a:cs typeface="Times New Roman" panose="02020603050405020304" pitchFamily="18" charset="0"/>
              </a:rPr>
              <a:t>Questions</a:t>
            </a:r>
          </a:p>
        </p:txBody>
      </p:sp>
    </p:spTree>
    <p:extLst>
      <p:ext uri="{BB962C8B-B14F-4D97-AF65-F5344CB8AC3E}">
        <p14:creationId xmlns:p14="http://schemas.microsoft.com/office/powerpoint/2010/main" val="38450052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BF134B50-271B-1AB9-0D8F-3CE0355DB95E}"/>
              </a:ext>
            </a:extLst>
          </p:cNvPr>
          <p:cNvPicPr>
            <a:picLocks noChangeAspect="1"/>
          </p:cNvPicPr>
          <p:nvPr/>
        </p:nvPicPr>
        <p:blipFill>
          <a:blip r:embed="rId2">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pic>
        <p:nvPicPr>
          <p:cNvPr id="3" name="Google Shape;116;p5">
            <a:extLst>
              <a:ext uri="{FF2B5EF4-FFF2-40B4-BE49-F238E27FC236}">
                <a16:creationId xmlns:a16="http://schemas.microsoft.com/office/drawing/2014/main" id="{0BAA08BE-6A83-D415-3081-B1F9D2D5BE15}"/>
              </a:ext>
            </a:extLst>
          </p:cNvPr>
          <p:cNvPicPr preferRelativeResize="0"/>
          <p:nvPr/>
        </p:nvPicPr>
        <p:blipFill rotWithShape="1">
          <a:blip r:embed="rId3">
            <a:alphaModFix/>
          </a:blip>
          <a:srcRect/>
          <a:stretch/>
        </p:blipFill>
        <p:spPr>
          <a:xfrm>
            <a:off x="7380916" y="2084429"/>
            <a:ext cx="4465643" cy="2834317"/>
          </a:xfrm>
          <a:prstGeom prst="rect">
            <a:avLst/>
          </a:prstGeom>
          <a:noFill/>
          <a:ln>
            <a:noFill/>
          </a:ln>
        </p:spPr>
      </p:pic>
      <p:sp>
        <p:nvSpPr>
          <p:cNvPr id="5" name="TextBox 4">
            <a:extLst>
              <a:ext uri="{FF2B5EF4-FFF2-40B4-BE49-F238E27FC236}">
                <a16:creationId xmlns:a16="http://schemas.microsoft.com/office/drawing/2014/main" id="{16341BF7-274A-888B-5250-0DD3D1C9506A}"/>
              </a:ext>
            </a:extLst>
          </p:cNvPr>
          <p:cNvSpPr txBox="1"/>
          <p:nvPr/>
        </p:nvSpPr>
        <p:spPr>
          <a:xfrm>
            <a:off x="919156" y="2390894"/>
            <a:ext cx="6096000" cy="1631216"/>
          </a:xfrm>
          <a:prstGeom prst="rect">
            <a:avLst/>
          </a:prstGeom>
          <a:noFill/>
        </p:spPr>
        <p:txBody>
          <a:bodyPr wrap="square">
            <a:spAutoFit/>
          </a:bodyPr>
          <a:lstStyle/>
          <a:p>
            <a:pPr marL="0" marR="0" lvl="0" indent="0" algn="l" rtl="0">
              <a:lnSpc>
                <a:spcPct val="100000"/>
              </a:lnSpc>
              <a:spcBef>
                <a:spcPts val="0"/>
              </a:spcBef>
              <a:spcAft>
                <a:spcPts val="0"/>
              </a:spcAft>
              <a:buClr>
                <a:srgbClr val="C00000"/>
              </a:buClr>
              <a:buSzPts val="4400"/>
              <a:buFont typeface="Libre Baskerville"/>
              <a:buNone/>
            </a:pPr>
            <a:r>
              <a:rPr lang="en-IN" sz="10000" b="0" i="1" u="none" strike="noStrike" cap="none" dirty="0">
                <a:solidFill>
                  <a:srgbClr val="FF0000"/>
                </a:solidFill>
                <a:effectLst>
                  <a:outerShdw blurRad="38100" dist="38100" dir="2700000" algn="tl">
                    <a:srgbClr val="000000">
                      <a:alpha val="43137"/>
                    </a:srgbClr>
                  </a:outerShdw>
                </a:effectLst>
                <a:latin typeface="Times New Roman" panose="02020603050405020304" pitchFamily="18" charset="0"/>
                <a:ea typeface="Libre Baskerville"/>
                <a:cs typeface="Times New Roman" panose="02020603050405020304" pitchFamily="18" charset="0"/>
                <a:sym typeface="Libre Baskerville"/>
              </a:rPr>
              <a:t>Thank </a:t>
            </a:r>
            <a:r>
              <a:rPr lang="en-IN" sz="10000" i="1" dirty="0">
                <a:solidFill>
                  <a:srgbClr val="FF0000"/>
                </a:solidFill>
                <a:effectLst>
                  <a:outerShdw blurRad="38100" dist="38100" dir="2700000" algn="tl">
                    <a:srgbClr val="000000">
                      <a:alpha val="43137"/>
                    </a:srgbClr>
                  </a:outerShdw>
                </a:effectLst>
                <a:latin typeface="Times New Roman" panose="02020603050405020304" pitchFamily="18" charset="0"/>
                <a:ea typeface="Libre Baskerville"/>
                <a:cs typeface="Times New Roman" panose="02020603050405020304" pitchFamily="18" charset="0"/>
                <a:sym typeface="Libre Baskerville"/>
              </a:rPr>
              <a:t> </a:t>
            </a:r>
            <a:r>
              <a:rPr lang="en-IN" sz="10000" b="0" i="1" u="none" strike="noStrike" cap="none" dirty="0">
                <a:solidFill>
                  <a:srgbClr val="FF0000"/>
                </a:solidFill>
                <a:effectLst>
                  <a:outerShdw blurRad="38100" dist="38100" dir="2700000" algn="tl">
                    <a:srgbClr val="000000">
                      <a:alpha val="43137"/>
                    </a:srgbClr>
                  </a:outerShdw>
                </a:effectLst>
                <a:latin typeface="Times New Roman" panose="02020603050405020304" pitchFamily="18" charset="0"/>
                <a:ea typeface="Libre Baskerville"/>
                <a:cs typeface="Times New Roman" panose="02020603050405020304" pitchFamily="18" charset="0"/>
                <a:sym typeface="Libre Baskerville"/>
              </a:rPr>
              <a:t>you</a:t>
            </a:r>
            <a:endParaRPr lang="en-IN" sz="10000" b="0" i="1" u="none" strike="noStrike" cap="none" dirty="0">
              <a:solidFill>
                <a:srgbClr val="FF0000"/>
              </a:solidFill>
              <a:effectLst>
                <a:outerShdw blurRad="38100" dist="38100" dir="2700000" algn="tl">
                  <a:srgbClr val="000000">
                    <a:alpha val="43137"/>
                  </a:srgbClr>
                </a:outerShdw>
              </a:effectLst>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18657352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882</TotalTime>
  <Words>1969</Words>
  <Application>Microsoft Office PowerPoint</Application>
  <PresentationFormat>Widescreen</PresentationFormat>
  <Paragraphs>358</Paragraphs>
  <Slides>22</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Calibri Light</vt:lpstr>
      <vt:lpstr>Libre Baskerville</vt:lpstr>
      <vt:lpstr>Times New Roman</vt:lpstr>
      <vt:lpstr>Wingdings</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Main</vt:lpstr>
      <vt:lpstr>Demographics</vt:lpstr>
      <vt:lpstr>PowerPoint Presentation</vt:lpstr>
      <vt:lpstr>Services</vt:lpstr>
      <vt:lpstr>PowerPoint Presentation</vt:lpstr>
      <vt:lpstr>Contract &amp; Biling</vt:lpstr>
      <vt:lpstr>PowerPoint Presentation</vt:lpstr>
      <vt:lpstr>Key drivers</vt:lpstr>
      <vt:lpstr>PowerPoint Presentation</vt:lpstr>
      <vt:lpstr>PowerPoint Presentation</vt:lpstr>
      <vt:lpstr>PowerPoint Presentation</vt:lpstr>
      <vt:lpstr>Summary page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bhanu sai prakash</cp:lastModifiedBy>
  <cp:revision>16</cp:revision>
  <dcterms:created xsi:type="dcterms:W3CDTF">2016-09-04T11:54:55Z</dcterms:created>
  <dcterms:modified xsi:type="dcterms:W3CDTF">2025-12-13T05:20:55Z</dcterms:modified>
</cp:coreProperties>
</file>